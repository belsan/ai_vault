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comments+xml" PartName="/ppt/comments/comment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commentAuthors+xml" PartName="/ppt/commentAuthors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pos="3840">
          <p15:clr>
            <a:srgbClr val="A4A3A4"/>
          </p15:clr>
        </p15:guide>
        <p15:guide id="2" orient="horz" pos="2160">
          <p15:clr>
            <a:srgbClr val="A4A3A4"/>
          </p15:clr>
        </p15:guide>
      </p15:sldGuideLst>
    </p:ext>
    <p:ext uri="GoogleSlidesCustomDataVersion2">
      <go:slidesCustomData xmlns:go="http://customooxmlschemas.google.com/" r:id="rId24" roundtripDataSignature="AMtx7mgZ5EfkAwqEkItl5uIuEK2pN9mWgw==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Author clrIdx="0" id="0" initials="" lastIdx="1" name="Sandro Belfanti"/>
</p:cmAuthorLst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221B52A-62A4-4EF7-9051-B35C5E1EC334}">
  <a:tblStyle styleId="{4221B52A-62A4-4EF7-9051-B35C5E1EC33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840"/>
        <p:guide pos="2160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22" Type="http://schemas.openxmlformats.org/officeDocument/2006/relationships/slide" Target="slides/slide15.xml"/><Relationship Id="rId10" Type="http://schemas.openxmlformats.org/officeDocument/2006/relationships/slide" Target="slides/slide3.xml"/><Relationship Id="rId21" Type="http://schemas.openxmlformats.org/officeDocument/2006/relationships/slide" Target="slides/slide14.xml"/><Relationship Id="rId13" Type="http://schemas.openxmlformats.org/officeDocument/2006/relationships/slide" Target="slides/slide6.xml"/><Relationship Id="rId24" Type="http://customschemas.google.com/relationships/presentationmetadata" Target="metadata"/><Relationship Id="rId12" Type="http://schemas.openxmlformats.org/officeDocument/2006/relationships/slide" Target="slides/slide5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commentAuthors" Target="commentAuthors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1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comments/comment1.xml><?xml version="1.0" encoding="utf-8"?>
<p:cmLs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m authorId="0" idx="1" dt="2025-09-17T09:22:08.814">
    <p:pos x="6000" y="0"/>
    <p:text>Test name</p:text>
    <p:extLst>
      <p:ext uri="{C676402C-5697-4E1C-873F-D02D1690AC5C}">
        <p15:threadingInfo timeZoneBias="0"/>
      </p:ext>
      <p:ext uri="http://customooxmlschemas.google.com/">
        <go:slidesCustomData xmlns:go="http://customooxmlschemas.google.com/" commentPostId="AAABrOmF8Tg"/>
      </p:ext>
    </p:extLst>
  </p:cm>
</p:cmLst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7a4df47488_0_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7a4df47488_0_1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7a4df47488_0_1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7a4df47488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7a4df47488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7a4df47488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7a4df47488_0_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8" name="Google Shape;188;g37a4df47488_0_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g37a4df47488_0_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48f3ea250e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48f3ea250e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g348f3ea250e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48f3ea250e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48f3ea250e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9" name="Google Shape;209;g348f3ea250e_0_1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48f3ea250e_0_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48f3ea250e_0_2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g348f3ea250e_0_2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48f3ea250e_0_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48f3ea250e_0_3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48f3ea250e_0_3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7cf25185ae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7cf25185ae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g37cf25185ae_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48f3ea250e_0_7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7" name="Google Shape;237;g348f3ea250e_0_7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8" name="Google Shape;238;g348f3ea250e_0_7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48f3ea250e_0_5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48f3ea250e_0_5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g348f3ea250e_0_5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48f3ea250e_0_8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48f3ea250e_0_8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g348f3ea250e_0_8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48f3ea250e_0_5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48f3ea250e_0_5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g348f3ea250e_0_5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48f3ea250e_0_6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48f3ea250e_0_6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g348f3ea250e_0_65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48f47ca9ffe9003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48f47ca9ffe9003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g48f47ca9ffe90030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g37cf25185ae_0_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8" name="Google Shape;288;g37cf25185ae_0_1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g37cf25185ae_0_1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6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jpg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jp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jpg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6.jp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title 1">
  <p:cSld name="Presentation title 1">
    <p:bg>
      <p:bgPr>
        <a:solidFill>
          <a:schemeClr val="lt1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6000" lIns="96000" spcFirstLastPara="1" rIns="96000" wrap="square" tIns="9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624000" y="5641951"/>
            <a:ext cx="8280000" cy="61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98989"/>
                </a:solidFill>
              </a:defRPr>
            </a:lvl2pPr>
            <a:lvl3pPr lvl="2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3pPr>
            <a:lvl4pPr lvl="3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4pPr>
            <a:lvl5pPr lvl="4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5pPr>
            <a:lvl6pPr lvl="5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6pPr>
            <a:lvl7pPr lvl="6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7pPr>
            <a:lvl8pPr lvl="7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8pPr>
            <a:lvl9pPr lvl="8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9pPr>
          </a:lstStyle>
          <a:p/>
        </p:txBody>
      </p:sp>
      <p:sp>
        <p:nvSpPr>
          <p:cNvPr id="19" name="Google Shape;19;p3"/>
          <p:cNvSpPr txBox="1"/>
          <p:nvPr>
            <p:ph type="ctrTitle"/>
          </p:nvPr>
        </p:nvSpPr>
        <p:spPr>
          <a:xfrm>
            <a:off x="624000" y="4163051"/>
            <a:ext cx="8280000" cy="11189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5412000" y="6500314"/>
            <a:ext cx="13680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restricted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" name="Google Shape;21;p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38355" y="5453288"/>
            <a:ext cx="1830253" cy="8004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background with white text&#10;&#10;Description automatically generated" id="22" name="Google Shape;22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88457" y="4928116"/>
            <a:ext cx="1246130" cy="2685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duation cap" id="23" name="Google Shape;23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430452" y="4585439"/>
            <a:ext cx="473942" cy="473942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3"/>
          <p:cNvSpPr/>
          <p:nvPr/>
        </p:nvSpPr>
        <p:spPr>
          <a:xfrm>
            <a:off x="1" y="-15553"/>
            <a:ext cx="12191999" cy="3932241"/>
          </a:xfrm>
          <a:custGeom>
            <a:rect b="b" l="l" r="r" t="t"/>
            <a:pathLst>
              <a:path extrusionOk="0" h="3932241" w="12191999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932241"/>
                </a:lnTo>
                <a:lnTo>
                  <a:pt x="0" y="3932241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2000" lIns="72000" spcFirstLastPara="1" rIns="72000" wrap="square" tIns="720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title 4">
  <p:cSld name="Presentation title 4">
    <p:bg>
      <p:bgPr>
        <a:solidFill>
          <a:schemeClr val="lt1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9912424" y="236633"/>
            <a:ext cx="1772684" cy="960119"/>
          </a:xfrm>
          <a:prstGeom prst="rect">
            <a:avLst/>
          </a:prstGeom>
          <a:solidFill>
            <a:schemeClr val="accent3">
              <a:alpha val="49803"/>
            </a:schemeClr>
          </a:solidFill>
          <a:ln>
            <a:noFill/>
          </a:ln>
        </p:spPr>
        <p:txBody>
          <a:bodyPr anchorCtr="0" anchor="ctr" bIns="72000" lIns="72000" spcFirstLastPara="1" rIns="72000" wrap="square" tIns="72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" name="Google Shape;27;p4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6000" lIns="96000" spcFirstLastPara="1" rIns="96000" wrap="square" tIns="9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 txBox="1"/>
          <p:nvPr>
            <p:ph idx="1" type="subTitle"/>
          </p:nvPr>
        </p:nvSpPr>
        <p:spPr>
          <a:xfrm>
            <a:off x="624000" y="5641951"/>
            <a:ext cx="8280000" cy="61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98989"/>
                </a:solidFill>
              </a:defRPr>
            </a:lvl2pPr>
            <a:lvl3pPr lvl="2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3pPr>
            <a:lvl4pPr lvl="3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4pPr>
            <a:lvl5pPr lvl="4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5pPr>
            <a:lvl6pPr lvl="5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6pPr>
            <a:lvl7pPr lvl="6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7pPr>
            <a:lvl8pPr lvl="7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8pPr>
            <a:lvl9pPr lvl="8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type="ctrTitle"/>
          </p:nvPr>
        </p:nvSpPr>
        <p:spPr>
          <a:xfrm>
            <a:off x="624000" y="4163051"/>
            <a:ext cx="8280000" cy="11189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4"/>
          <p:cNvSpPr/>
          <p:nvPr/>
        </p:nvSpPr>
        <p:spPr>
          <a:xfrm>
            <a:off x="2" y="1"/>
            <a:ext cx="12191999" cy="3932241"/>
          </a:xfrm>
          <a:custGeom>
            <a:rect b="b" l="l" r="r" t="t"/>
            <a:pathLst>
              <a:path extrusionOk="0" h="3932241" w="12191999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932241"/>
                </a:lnTo>
                <a:lnTo>
                  <a:pt x="0" y="3932241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2000" lIns="72000" spcFirstLastPara="1" rIns="72000" wrap="square" tIns="720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4"/>
          <p:cNvSpPr txBox="1"/>
          <p:nvPr/>
        </p:nvSpPr>
        <p:spPr>
          <a:xfrm>
            <a:off x="5412000" y="6500314"/>
            <a:ext cx="13680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restricted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72000" lIns="72000" spcFirstLastPara="1" rIns="72000" wrap="square" tIns="720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" name="Google Shape;33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94175" y="353272"/>
            <a:ext cx="1574433" cy="6874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background with white text&#10;&#10;Description automatically generated" id="34" name="Google Shape;34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30719" y="5712578"/>
            <a:ext cx="2347762" cy="506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duation cap" id="35" name="Google Shape;35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37369" y="5193734"/>
            <a:ext cx="683262" cy="683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title 2">
  <p:cSld name="Presentation title 2">
    <p:bg>
      <p:bgPr>
        <a:solidFill>
          <a:schemeClr val="lt1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5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6000" lIns="96000" spcFirstLastPara="1" rIns="96000" wrap="square" tIns="9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8" name="Google Shape;38;p5"/>
          <p:cNvPicPr preferRelativeResize="0"/>
          <p:nvPr>
            <p:ph idx="2" type="pic"/>
          </p:nvPr>
        </p:nvPicPr>
        <p:blipFill/>
        <p:spPr>
          <a:xfrm>
            <a:off x="-1" y="0"/>
            <a:ext cx="5205158" cy="68580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 b="0" l="0" r="0" t="0"/>
            </a:stretch>
          </a:blipFill>
          <a:ln>
            <a:noFill/>
          </a:ln>
        </p:spPr>
      </p:pic>
      <p:sp>
        <p:nvSpPr>
          <p:cNvPr id="39" name="Google Shape;39;p5"/>
          <p:cNvSpPr txBox="1"/>
          <p:nvPr>
            <p:ph idx="1" type="subTitle"/>
          </p:nvPr>
        </p:nvSpPr>
        <p:spPr>
          <a:xfrm>
            <a:off x="5808608" y="3790101"/>
            <a:ext cx="5760000" cy="61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98989"/>
                </a:solidFill>
              </a:defRPr>
            </a:lvl2pPr>
            <a:lvl3pPr lvl="2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3pPr>
            <a:lvl4pPr lvl="3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4pPr>
            <a:lvl5pPr lvl="4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5pPr>
            <a:lvl6pPr lvl="5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6pPr>
            <a:lvl7pPr lvl="6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7pPr>
            <a:lvl8pPr lvl="7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8pPr>
            <a:lvl9pPr lvl="8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9pPr>
          </a:lstStyle>
          <a:p/>
        </p:txBody>
      </p:sp>
      <p:sp>
        <p:nvSpPr>
          <p:cNvPr id="40" name="Google Shape;40;p5"/>
          <p:cNvSpPr txBox="1"/>
          <p:nvPr>
            <p:ph type="title"/>
          </p:nvPr>
        </p:nvSpPr>
        <p:spPr>
          <a:xfrm>
            <a:off x="5808608" y="1757203"/>
            <a:ext cx="5760000" cy="16728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/>
        </p:nvSpPr>
        <p:spPr>
          <a:xfrm>
            <a:off x="5808608" y="6501600"/>
            <a:ext cx="13680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restricted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2" name="Google Shape;4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738355" y="5453288"/>
            <a:ext cx="1830253" cy="8004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background with white text&#10;&#10;Description automatically generated" id="43" name="Google Shape;4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59657" y="5667090"/>
            <a:ext cx="1246130" cy="2685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duation cap" id="44" name="Google Shape;4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01652" y="5324413"/>
            <a:ext cx="473942" cy="4739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title 5">
  <p:cSld name="Presentation title 5">
    <p:bg>
      <p:bgPr>
        <a:solidFill>
          <a:schemeClr val="lt1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/>
          <p:nvPr/>
        </p:nvSpPr>
        <p:spPr>
          <a:xfrm>
            <a:off x="263352" y="236633"/>
            <a:ext cx="1772684" cy="960119"/>
          </a:xfrm>
          <a:prstGeom prst="rect">
            <a:avLst/>
          </a:prstGeom>
          <a:solidFill>
            <a:schemeClr val="accent3">
              <a:alpha val="49803"/>
            </a:schemeClr>
          </a:solidFill>
          <a:ln>
            <a:noFill/>
          </a:ln>
        </p:spPr>
        <p:txBody>
          <a:bodyPr anchorCtr="0" anchor="ctr" bIns="72000" lIns="72000" spcFirstLastPara="1" rIns="72000" wrap="square" tIns="72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7" name="Google Shape;47;p6"/>
          <p:cNvSpPr/>
          <p:nvPr/>
        </p:nvSpPr>
        <p:spPr>
          <a:xfrm>
            <a:off x="0" y="0"/>
            <a:ext cx="121932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6000" lIns="96000" spcFirstLastPara="1" rIns="96000" wrap="square" tIns="9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lose-up of a plant&#10;&#10;Description automatically generated" id="48" name="Google Shape;48;p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5206538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9" name="Google Shape;49;p6"/>
          <p:cNvSpPr txBox="1"/>
          <p:nvPr>
            <p:ph idx="1" type="subTitle"/>
          </p:nvPr>
        </p:nvSpPr>
        <p:spPr>
          <a:xfrm>
            <a:off x="5808608" y="3790101"/>
            <a:ext cx="5760000" cy="61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98989"/>
                </a:solidFill>
              </a:defRPr>
            </a:lvl2pPr>
            <a:lvl3pPr lvl="2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3pPr>
            <a:lvl4pPr lvl="3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4pPr>
            <a:lvl5pPr lvl="4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5pPr>
            <a:lvl6pPr lvl="5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6pPr>
            <a:lvl7pPr lvl="6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7pPr>
            <a:lvl8pPr lvl="7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8pPr>
            <a:lvl9pPr lvl="8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9pPr>
          </a:lstStyle>
          <a:p/>
        </p:txBody>
      </p:sp>
      <p:sp>
        <p:nvSpPr>
          <p:cNvPr id="50" name="Google Shape;50;p6"/>
          <p:cNvSpPr txBox="1"/>
          <p:nvPr>
            <p:ph type="title"/>
          </p:nvPr>
        </p:nvSpPr>
        <p:spPr>
          <a:xfrm>
            <a:off x="5808608" y="1757203"/>
            <a:ext cx="5760000" cy="167289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/>
        </p:nvSpPr>
        <p:spPr>
          <a:xfrm>
            <a:off x="5808608" y="6501600"/>
            <a:ext cx="13680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restricted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52" name="Google Shape;5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34800" y="353272"/>
            <a:ext cx="1574433" cy="6874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background with white text&#10;&#10;Description automatically generated" id="53" name="Google Shape;5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430719" y="5712578"/>
            <a:ext cx="2347762" cy="50604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duation cap" id="54" name="Google Shape;5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337369" y="5193734"/>
            <a:ext cx="683262" cy="6832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resentation title 3">
  <p:cSld name="Presentation title 3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/>
          <p:nvPr/>
        </p:nvSpPr>
        <p:spPr>
          <a:xfrm>
            <a:off x="-1202" y="843139"/>
            <a:ext cx="121932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6000" lIns="96000" spcFirstLastPara="1" rIns="96000" wrap="square" tIns="9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7"/>
          <p:cNvSpPr/>
          <p:nvPr/>
        </p:nvSpPr>
        <p:spPr>
          <a:xfrm>
            <a:off x="-1202" y="-620"/>
            <a:ext cx="12191999" cy="3932241"/>
          </a:xfrm>
          <a:custGeom>
            <a:rect b="b" l="l" r="r" t="t"/>
            <a:pathLst>
              <a:path extrusionOk="0" h="3932241" w="12191999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932241"/>
                </a:lnTo>
                <a:lnTo>
                  <a:pt x="0" y="3932241"/>
                </a:lnTo>
                <a:close/>
              </a:path>
            </a:pathLst>
          </a:custGeom>
          <a:solidFill>
            <a:srgbClr val="0A8276"/>
          </a:solidFill>
          <a:ln>
            <a:noFill/>
          </a:ln>
        </p:spPr>
        <p:txBody>
          <a:bodyPr anchorCtr="0" anchor="ctr" bIns="72000" lIns="72000" spcFirstLastPara="1" rIns="72000" wrap="square" tIns="720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7"/>
          <p:cNvSpPr txBox="1"/>
          <p:nvPr>
            <p:ph idx="1" type="subTitle"/>
          </p:nvPr>
        </p:nvSpPr>
        <p:spPr>
          <a:xfrm>
            <a:off x="624000" y="5641200"/>
            <a:ext cx="8280000" cy="61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solidFill>
                  <a:srgbClr val="898989"/>
                </a:solidFill>
              </a:defRPr>
            </a:lvl2pPr>
            <a:lvl3pPr lvl="2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3pPr>
            <a:lvl4pPr lvl="3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4pPr>
            <a:lvl5pPr lvl="4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5pPr>
            <a:lvl6pPr lvl="5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6pPr>
            <a:lvl7pPr lvl="6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7pPr>
            <a:lvl8pPr lvl="7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8pPr>
            <a:lvl9pPr lvl="8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98989"/>
                </a:solidFill>
              </a:defRPr>
            </a:lvl9pPr>
          </a:lstStyle>
          <a:p/>
        </p:txBody>
      </p:sp>
      <p:sp>
        <p:nvSpPr>
          <p:cNvPr id="59" name="Google Shape;59;p7"/>
          <p:cNvSpPr txBox="1"/>
          <p:nvPr>
            <p:ph type="title"/>
          </p:nvPr>
        </p:nvSpPr>
        <p:spPr>
          <a:xfrm>
            <a:off x="624001" y="4161599"/>
            <a:ext cx="8280000" cy="11196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7"/>
          <p:cNvSpPr txBox="1"/>
          <p:nvPr/>
        </p:nvSpPr>
        <p:spPr>
          <a:xfrm>
            <a:off x="5412000" y="6501600"/>
            <a:ext cx="1368000" cy="2889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restricted</a:t>
            </a:r>
            <a:endParaRPr/>
          </a:p>
        </p:txBody>
      </p:sp>
      <p:pic>
        <p:nvPicPr>
          <p:cNvPr id="61" name="Google Shape;61;p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738355" y="5453288"/>
            <a:ext cx="1830253" cy="8004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background with white text&#10;&#10;Description automatically generated" id="62" name="Google Shape;62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925535" y="4954713"/>
            <a:ext cx="1246130" cy="2685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duation cap" id="63" name="Google Shape;6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367530" y="4612036"/>
            <a:ext cx="473942" cy="473942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7"/>
          <p:cNvSpPr/>
          <p:nvPr/>
        </p:nvSpPr>
        <p:spPr>
          <a:xfrm>
            <a:off x="2" y="1"/>
            <a:ext cx="12191999" cy="3932241"/>
          </a:xfrm>
          <a:custGeom>
            <a:rect b="b" l="l" r="r" t="t"/>
            <a:pathLst>
              <a:path extrusionOk="0" h="3932241" w="12191999">
                <a:moveTo>
                  <a:pt x="0" y="0"/>
                </a:moveTo>
                <a:lnTo>
                  <a:pt x="12191999" y="0"/>
                </a:lnTo>
                <a:lnTo>
                  <a:pt x="12191999" y="3726156"/>
                </a:lnTo>
                <a:lnTo>
                  <a:pt x="3063660" y="2179105"/>
                </a:lnTo>
                <a:lnTo>
                  <a:pt x="387" y="3726157"/>
                </a:lnTo>
                <a:lnTo>
                  <a:pt x="387" y="3932241"/>
                </a:lnTo>
                <a:lnTo>
                  <a:pt x="0" y="3932241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ctr" bIns="72000" lIns="72000" spcFirstLastPara="1" rIns="72000" wrap="square" tIns="72000">
            <a:noAutofit/>
          </a:bodyPr>
          <a:lstStyle/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8"/>
          <p:cNvSpPr txBox="1"/>
          <p:nvPr/>
        </p:nvSpPr>
        <p:spPr>
          <a:xfrm>
            <a:off x="4547828" y="6489341"/>
            <a:ext cx="3096343" cy="3614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Infineon Technologies AG 2025. All rights reserved.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8"/>
          <p:cNvSpPr txBox="1"/>
          <p:nvPr/>
        </p:nvSpPr>
        <p:spPr>
          <a:xfrm>
            <a:off x="1238188" y="6489700"/>
            <a:ext cx="973251" cy="3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restricted</a:t>
            </a:r>
            <a:endParaRPr/>
          </a:p>
        </p:txBody>
      </p:sp>
      <p:sp>
        <p:nvSpPr>
          <p:cNvPr id="68" name="Google Shape;68;p8"/>
          <p:cNvSpPr txBox="1"/>
          <p:nvPr/>
        </p:nvSpPr>
        <p:spPr>
          <a:xfrm>
            <a:off x="334963" y="6489341"/>
            <a:ext cx="612000" cy="3614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04.08.2025 14:49:53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8"/>
          <p:cNvSpPr txBox="1"/>
          <p:nvPr>
            <p:ph type="title"/>
          </p:nvPr>
        </p:nvSpPr>
        <p:spPr>
          <a:xfrm>
            <a:off x="335360" y="188720"/>
            <a:ext cx="8493745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020">
          <p15:clr>
            <a:srgbClr val="FBAE40"/>
          </p15:clr>
        </p15:guide>
        <p15:guide id="2" pos="7469">
          <p15:clr>
            <a:srgbClr val="FBAE40"/>
          </p15:clr>
        </p15:guide>
        <p15:guide id="3" pos="211">
          <p15:clr>
            <a:srgbClr val="FBAE40"/>
          </p15:clr>
        </p15:guide>
        <p15:guide id="4" orient="horz" pos="799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| content" type="obj">
  <p:cSld name="OBJEC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9"/>
          <p:cNvSpPr txBox="1"/>
          <p:nvPr/>
        </p:nvSpPr>
        <p:spPr>
          <a:xfrm>
            <a:off x="4547828" y="6489700"/>
            <a:ext cx="3096343" cy="3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Infineon Technologies AG 2025. All rights reserved.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2" name="Google Shape;72;p9"/>
          <p:cNvSpPr txBox="1"/>
          <p:nvPr/>
        </p:nvSpPr>
        <p:spPr>
          <a:xfrm>
            <a:off x="1238188" y="6489700"/>
            <a:ext cx="973251" cy="3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restricted</a:t>
            </a:r>
            <a:endParaRPr/>
          </a:p>
        </p:txBody>
      </p:sp>
      <p:sp>
        <p:nvSpPr>
          <p:cNvPr id="73" name="Google Shape;73;p9"/>
          <p:cNvSpPr txBox="1"/>
          <p:nvPr/>
        </p:nvSpPr>
        <p:spPr>
          <a:xfrm>
            <a:off x="334963" y="6489700"/>
            <a:ext cx="612000" cy="3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04.08.2025 14:49:53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9"/>
          <p:cNvSpPr txBox="1"/>
          <p:nvPr>
            <p:ph idx="1" type="body"/>
          </p:nvPr>
        </p:nvSpPr>
        <p:spPr>
          <a:xfrm>
            <a:off x="334800" y="1268414"/>
            <a:ext cx="11520000" cy="5113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6pPr>
            <a:lvl7pPr indent="-3429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7pPr>
            <a:lvl8pPr indent="-3429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8pPr>
            <a:lvl9pPr indent="-3429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9pPr>
          </a:lstStyle>
          <a:p/>
        </p:txBody>
      </p:sp>
      <p:sp>
        <p:nvSpPr>
          <p:cNvPr id="75" name="Google Shape;75;p9"/>
          <p:cNvSpPr txBox="1"/>
          <p:nvPr>
            <p:ph type="title"/>
          </p:nvPr>
        </p:nvSpPr>
        <p:spPr>
          <a:xfrm>
            <a:off x="335360" y="188720"/>
            <a:ext cx="8493745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7469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799">
          <p15:clr>
            <a:srgbClr val="FBAE40"/>
          </p15:clr>
        </p15:guide>
        <p15:guide id="4" orient="horz" pos="402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 contents" type="twoObj">
  <p:cSld name="TWO_OBJECTS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"/>
          <p:cNvSpPr txBox="1"/>
          <p:nvPr/>
        </p:nvSpPr>
        <p:spPr>
          <a:xfrm>
            <a:off x="4547828" y="6489700"/>
            <a:ext cx="3096343" cy="3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Infineon Technologies AG 2025. All rights reserved.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0"/>
          <p:cNvSpPr txBox="1"/>
          <p:nvPr/>
        </p:nvSpPr>
        <p:spPr>
          <a:xfrm>
            <a:off x="1238188" y="6489700"/>
            <a:ext cx="973251" cy="3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r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restricted</a:t>
            </a:r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9" name="Google Shape;79;p10"/>
          <p:cNvSpPr txBox="1"/>
          <p:nvPr/>
        </p:nvSpPr>
        <p:spPr>
          <a:xfrm>
            <a:off x="334963" y="6489700"/>
            <a:ext cx="612000" cy="3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r>
              <a:rPr b="0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04.08.2025 14:49:53</a:t>
            </a:r>
            <a:endParaRPr b="0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0" name="Google Shape;80;p10"/>
          <p:cNvSpPr txBox="1"/>
          <p:nvPr>
            <p:ph idx="1" type="body"/>
          </p:nvPr>
        </p:nvSpPr>
        <p:spPr>
          <a:xfrm>
            <a:off x="334800" y="1268414"/>
            <a:ext cx="5688000" cy="5113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6pPr>
            <a:lvl7pPr indent="-3429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7pPr>
            <a:lvl8pPr indent="-3429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8pPr>
            <a:lvl9pPr indent="-3429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9pPr>
          </a:lstStyle>
          <a:p/>
        </p:txBody>
      </p:sp>
      <p:sp>
        <p:nvSpPr>
          <p:cNvPr id="81" name="Google Shape;81;p10"/>
          <p:cNvSpPr txBox="1"/>
          <p:nvPr>
            <p:ph idx="2" type="body"/>
          </p:nvPr>
        </p:nvSpPr>
        <p:spPr>
          <a:xfrm>
            <a:off x="6167439" y="1268414"/>
            <a:ext cx="5689202" cy="5113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6pPr>
            <a:lvl7pPr indent="-3429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7pPr>
            <a:lvl8pPr indent="-3429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8pPr>
            <a:lvl9pPr indent="-3429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9pPr>
          </a:lstStyle>
          <a:p/>
        </p:txBody>
      </p:sp>
      <p:sp>
        <p:nvSpPr>
          <p:cNvPr id="82" name="Google Shape;82;p10"/>
          <p:cNvSpPr txBox="1"/>
          <p:nvPr>
            <p:ph type="title"/>
          </p:nvPr>
        </p:nvSpPr>
        <p:spPr>
          <a:xfrm>
            <a:off x="335360" y="188720"/>
            <a:ext cx="8493745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885">
          <p15:clr>
            <a:srgbClr val="FBAE40"/>
          </p15:clr>
        </p15:guide>
        <p15:guide id="2" pos="7469">
          <p15:clr>
            <a:srgbClr val="FBAE40"/>
          </p15:clr>
        </p15:guide>
        <p15:guide id="3" pos="3795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1" type="secHead">
  <p:cSld name="SECTION_HEADER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/>
          <p:nvPr/>
        </p:nvSpPr>
        <p:spPr>
          <a:xfrm>
            <a:off x="0" y="810000"/>
            <a:ext cx="12191998" cy="604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6000" lIns="96000" spcFirstLastPara="1" rIns="96000" wrap="square" tIns="9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133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5" name="Google Shape;85;p11"/>
          <p:cNvSpPr/>
          <p:nvPr/>
        </p:nvSpPr>
        <p:spPr>
          <a:xfrm rot="5400000">
            <a:off x="1207129" y="-1234005"/>
            <a:ext cx="6878637" cy="9330464"/>
          </a:xfrm>
          <a:custGeom>
            <a:rect b="b" l="l" r="r" t="t"/>
            <a:pathLst>
              <a:path extrusionOk="0" h="9330464" w="6878637">
                <a:moveTo>
                  <a:pt x="8092" y="727877"/>
                </a:moveTo>
                <a:lnTo>
                  <a:pt x="1734388" y="0"/>
                </a:lnTo>
                <a:lnTo>
                  <a:pt x="6878635" y="1136853"/>
                </a:lnTo>
                <a:cubicBezTo>
                  <a:pt x="6878636" y="3865360"/>
                  <a:pt x="6878636" y="6593868"/>
                  <a:pt x="6878637" y="9322375"/>
                </a:cubicBezTo>
                <a:lnTo>
                  <a:pt x="0" y="9330464"/>
                </a:lnTo>
                <a:cubicBezTo>
                  <a:pt x="2697" y="6462935"/>
                  <a:pt x="5395" y="3595406"/>
                  <a:pt x="8092" y="727877"/>
                </a:cubicBezTo>
                <a:close/>
              </a:path>
            </a:pathLst>
          </a:custGeom>
          <a:solidFill>
            <a:srgbClr val="0A82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6" name="Google Shape;86;p11"/>
          <p:cNvSpPr txBox="1"/>
          <p:nvPr>
            <p:ph type="title"/>
          </p:nvPr>
        </p:nvSpPr>
        <p:spPr>
          <a:xfrm>
            <a:off x="335360" y="2134800"/>
            <a:ext cx="8137525" cy="68336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2">
  <p:cSld name="Section 2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2"/>
          <p:cNvSpPr/>
          <p:nvPr/>
        </p:nvSpPr>
        <p:spPr>
          <a:xfrm>
            <a:off x="0" y="810000"/>
            <a:ext cx="12191998" cy="604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6000" lIns="96000" spcFirstLastPara="1" rIns="96000" wrap="square" tIns="96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3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2"/>
          <p:cNvSpPr/>
          <p:nvPr/>
        </p:nvSpPr>
        <p:spPr>
          <a:xfrm rot="-5400000">
            <a:off x="7665203" y="2331204"/>
            <a:ext cx="6857999" cy="2195592"/>
          </a:xfrm>
          <a:custGeom>
            <a:rect b="b" l="l" r="r" t="t"/>
            <a:pathLst>
              <a:path extrusionOk="0" h="3793483" w="6857999">
                <a:moveTo>
                  <a:pt x="6857999" y="1129077"/>
                </a:moveTo>
                <a:lnTo>
                  <a:pt x="6857999" y="3792536"/>
                </a:lnTo>
                <a:lnTo>
                  <a:pt x="0" y="3793483"/>
                </a:lnTo>
                <a:lnTo>
                  <a:pt x="0" y="729579"/>
                </a:lnTo>
                <a:lnTo>
                  <a:pt x="1748945" y="0"/>
                </a:lnTo>
                <a:close/>
              </a:path>
            </a:pathLst>
          </a:custGeom>
          <a:solidFill>
            <a:srgbClr val="0A827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0" name="Google Shape;90;p12"/>
          <p:cNvSpPr txBox="1"/>
          <p:nvPr>
            <p:ph type="title"/>
          </p:nvPr>
        </p:nvSpPr>
        <p:spPr>
          <a:xfrm>
            <a:off x="335360" y="2134800"/>
            <a:ext cx="8137525" cy="683369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3600"/>
              <a:buFont typeface="Arial"/>
              <a:buNone/>
              <a:defRPr sz="36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91" name="Google Shape;91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0659042" y="193689"/>
            <a:ext cx="1207447" cy="5280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pos="5337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1344">
          <p15:clr>
            <a:srgbClr val="FBAE40"/>
          </p15:clr>
        </p15:guide>
        <p15:guide id="4" orient="horz" pos="1774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ntents" type="fourObj">
  <p:cSld name="FOUR_OBJECTS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3"/>
          <p:cNvSpPr txBox="1"/>
          <p:nvPr/>
        </p:nvSpPr>
        <p:spPr>
          <a:xfrm>
            <a:off x="4547828" y="6489341"/>
            <a:ext cx="3096343" cy="3614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Infineon Technologies AG 2025. All rights reserved.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3"/>
          <p:cNvSpPr txBox="1"/>
          <p:nvPr/>
        </p:nvSpPr>
        <p:spPr>
          <a:xfrm>
            <a:off x="1238188" y="6489341"/>
            <a:ext cx="973251" cy="3614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r>
              <a:rPr b="1"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restricted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334963" y="6489341"/>
            <a:ext cx="612000" cy="3614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04.08.2025 14:49:53</a:t>
            </a:r>
            <a:endParaRPr/>
          </a:p>
        </p:txBody>
      </p:sp>
      <p:sp>
        <p:nvSpPr>
          <p:cNvPr id="96" name="Google Shape;96;p13"/>
          <p:cNvSpPr txBox="1"/>
          <p:nvPr>
            <p:ph idx="1" type="body"/>
          </p:nvPr>
        </p:nvSpPr>
        <p:spPr>
          <a:xfrm>
            <a:off x="334800" y="1268412"/>
            <a:ext cx="5688000" cy="23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6pPr>
            <a:lvl7pPr indent="-3429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7pPr>
            <a:lvl8pPr indent="-3429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8pPr>
            <a:lvl9pPr indent="-3429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9pPr>
          </a:lstStyle>
          <a:p/>
        </p:txBody>
      </p:sp>
      <p:sp>
        <p:nvSpPr>
          <p:cNvPr id="97" name="Google Shape;97;p13"/>
          <p:cNvSpPr txBox="1"/>
          <p:nvPr>
            <p:ph idx="2" type="body"/>
          </p:nvPr>
        </p:nvSpPr>
        <p:spPr>
          <a:xfrm>
            <a:off x="6166799" y="1268412"/>
            <a:ext cx="5688000" cy="23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6pPr>
            <a:lvl7pPr indent="-3429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7pPr>
            <a:lvl8pPr indent="-3429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8pPr>
            <a:lvl9pPr indent="-3429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9pPr>
          </a:lstStyle>
          <a:p/>
        </p:txBody>
      </p:sp>
      <p:sp>
        <p:nvSpPr>
          <p:cNvPr id="98" name="Google Shape;98;p13"/>
          <p:cNvSpPr txBox="1"/>
          <p:nvPr>
            <p:ph idx="3" type="body"/>
          </p:nvPr>
        </p:nvSpPr>
        <p:spPr>
          <a:xfrm>
            <a:off x="334800" y="3860801"/>
            <a:ext cx="5688000" cy="2520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6pPr>
            <a:lvl7pPr indent="-3429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7pPr>
            <a:lvl8pPr indent="-3429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8pPr>
            <a:lvl9pPr indent="-3429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9pPr>
          </a:lstStyle>
          <a:p/>
        </p:txBody>
      </p:sp>
      <p:sp>
        <p:nvSpPr>
          <p:cNvPr id="99" name="Google Shape;99;p13"/>
          <p:cNvSpPr txBox="1"/>
          <p:nvPr>
            <p:ph idx="4" type="body"/>
          </p:nvPr>
        </p:nvSpPr>
        <p:spPr>
          <a:xfrm>
            <a:off x="6166799" y="3860801"/>
            <a:ext cx="5688000" cy="2520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6pPr>
            <a:lvl7pPr indent="-3429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7pPr>
            <a:lvl8pPr indent="-3429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8pPr>
            <a:lvl9pPr indent="-3429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9pPr>
          </a:lstStyle>
          <a:p/>
        </p:txBody>
      </p:sp>
      <p:sp>
        <p:nvSpPr>
          <p:cNvPr id="100" name="Google Shape;100;p13"/>
          <p:cNvSpPr txBox="1"/>
          <p:nvPr>
            <p:ph type="title"/>
          </p:nvPr>
        </p:nvSpPr>
        <p:spPr>
          <a:xfrm>
            <a:off x="335360" y="188720"/>
            <a:ext cx="8493745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795">
          <p15:clr>
            <a:srgbClr val="FBAE40"/>
          </p15:clr>
        </p15:guide>
        <p15:guide id="2" pos="211">
          <p15:clr>
            <a:srgbClr val="FBAE40"/>
          </p15:clr>
        </p15:guide>
        <p15:guide id="3" pos="3885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4020">
          <p15:clr>
            <a:srgbClr val="FBAE40"/>
          </p15:clr>
        </p15:guide>
        <p15:guide id="7" orient="horz" pos="2273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w | 2 columns" type="txAndTwoObj">
  <p:cSld name="TEXT_AND_TWO_OBJECTS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4"/>
          <p:cNvSpPr txBox="1"/>
          <p:nvPr/>
        </p:nvSpPr>
        <p:spPr>
          <a:xfrm>
            <a:off x="4547828" y="6489341"/>
            <a:ext cx="3096343" cy="3614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Infineon Technologies AG 2025. All rights reserved.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1238188" y="6489341"/>
            <a:ext cx="973251" cy="3614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r>
              <a:rPr b="1"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restricted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334963" y="6489341"/>
            <a:ext cx="612000" cy="3614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04.08.2025 14:49:53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4"/>
          <p:cNvSpPr txBox="1"/>
          <p:nvPr>
            <p:ph idx="1" type="body"/>
          </p:nvPr>
        </p:nvSpPr>
        <p:spPr>
          <a:xfrm>
            <a:off x="334800" y="1268412"/>
            <a:ext cx="11520000" cy="234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6pPr>
            <a:lvl7pPr indent="-3429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7pPr>
            <a:lvl8pPr indent="-3429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8pPr>
            <a:lvl9pPr indent="-3429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9pPr>
          </a:lstStyle>
          <a:p/>
        </p:txBody>
      </p:sp>
      <p:sp>
        <p:nvSpPr>
          <p:cNvPr id="106" name="Google Shape;106;p14"/>
          <p:cNvSpPr txBox="1"/>
          <p:nvPr>
            <p:ph idx="2" type="body"/>
          </p:nvPr>
        </p:nvSpPr>
        <p:spPr>
          <a:xfrm>
            <a:off x="334800" y="3860801"/>
            <a:ext cx="5688000" cy="2520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6pPr>
            <a:lvl7pPr indent="-3429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7pPr>
            <a:lvl8pPr indent="-3429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8pPr>
            <a:lvl9pPr indent="-3429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9pPr>
          </a:lstStyle>
          <a:p/>
        </p:txBody>
      </p:sp>
      <p:sp>
        <p:nvSpPr>
          <p:cNvPr id="107" name="Google Shape;107;p14"/>
          <p:cNvSpPr txBox="1"/>
          <p:nvPr>
            <p:ph idx="3" type="body"/>
          </p:nvPr>
        </p:nvSpPr>
        <p:spPr>
          <a:xfrm>
            <a:off x="6166800" y="3860801"/>
            <a:ext cx="5688000" cy="25209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6pPr>
            <a:lvl7pPr indent="-3429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7pPr>
            <a:lvl8pPr indent="-3429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8pPr>
            <a:lvl9pPr indent="-3429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9pPr>
          </a:lstStyle>
          <a:p/>
        </p:txBody>
      </p:sp>
      <p:sp>
        <p:nvSpPr>
          <p:cNvPr id="108" name="Google Shape;108;p14"/>
          <p:cNvSpPr txBox="1"/>
          <p:nvPr>
            <p:ph type="title"/>
          </p:nvPr>
        </p:nvSpPr>
        <p:spPr>
          <a:xfrm>
            <a:off x="335360" y="188720"/>
            <a:ext cx="8493745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2273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orient="horz" pos="4020">
          <p15:clr>
            <a:srgbClr val="FBAE40"/>
          </p15:clr>
        </p15:guide>
        <p15:guide id="4" pos="7469">
          <p15:clr>
            <a:srgbClr val="FBAE40"/>
          </p15:clr>
        </p15:guide>
        <p15:guide id="5" pos="3885">
          <p15:clr>
            <a:srgbClr val="FBAE40"/>
          </p15:clr>
        </p15:guide>
        <p15:guide id="6" pos="3795">
          <p15:clr>
            <a:srgbClr val="FBAE40"/>
          </p15:clr>
        </p15:guide>
        <p15:guide id="7" pos="211">
          <p15:clr>
            <a:srgbClr val="FBAE40"/>
          </p15:clr>
        </p15:guide>
        <p15:guide id="8" orient="horz" pos="2432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w | 2 columns | row" type="txOverObj">
  <p:cSld name="TEXT_OVER_OBJECT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/>
          <p:nvPr/>
        </p:nvSpPr>
        <p:spPr>
          <a:xfrm>
            <a:off x="4547828" y="6489341"/>
            <a:ext cx="3096343" cy="3614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Infineon Technologies AG 2025. All rights reserved.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p15"/>
          <p:cNvSpPr txBox="1"/>
          <p:nvPr/>
        </p:nvSpPr>
        <p:spPr>
          <a:xfrm>
            <a:off x="1238188" y="6489341"/>
            <a:ext cx="973251" cy="3614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r>
              <a:rPr b="1"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restricted</a:t>
            </a:r>
            <a:endParaRPr/>
          </a:p>
        </p:txBody>
      </p:sp>
      <p:sp>
        <p:nvSpPr>
          <p:cNvPr id="112" name="Google Shape;112;p15"/>
          <p:cNvSpPr txBox="1"/>
          <p:nvPr/>
        </p:nvSpPr>
        <p:spPr>
          <a:xfrm>
            <a:off x="334963" y="6489341"/>
            <a:ext cx="612000" cy="3614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04.08.2025 14:49:53</a:t>
            </a:r>
            <a:endParaRPr/>
          </a:p>
        </p:txBody>
      </p:sp>
      <p:sp>
        <p:nvSpPr>
          <p:cNvPr id="113" name="Google Shape;113;p15"/>
          <p:cNvSpPr txBox="1"/>
          <p:nvPr>
            <p:ph idx="1" type="body"/>
          </p:nvPr>
        </p:nvSpPr>
        <p:spPr>
          <a:xfrm>
            <a:off x="334433" y="1268412"/>
            <a:ext cx="11521280" cy="126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5pPr>
            <a:lvl6pPr indent="-3429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6pPr>
            <a:lvl7pPr indent="-3429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7pPr>
            <a:lvl8pPr indent="-3429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8pPr>
            <a:lvl9pPr indent="-3429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9pPr>
          </a:lstStyle>
          <a:p/>
        </p:txBody>
      </p:sp>
      <p:sp>
        <p:nvSpPr>
          <p:cNvPr id="114" name="Google Shape;114;p15"/>
          <p:cNvSpPr txBox="1"/>
          <p:nvPr>
            <p:ph idx="2" type="body"/>
          </p:nvPr>
        </p:nvSpPr>
        <p:spPr>
          <a:xfrm>
            <a:off x="334800" y="2780913"/>
            <a:ext cx="5688000" cy="19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6pPr>
            <a:lvl7pPr indent="-3429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7pPr>
            <a:lvl8pPr indent="-3429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8pPr>
            <a:lvl9pPr indent="-3429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9pPr>
          </a:lstStyle>
          <a:p/>
        </p:txBody>
      </p:sp>
      <p:sp>
        <p:nvSpPr>
          <p:cNvPr id="115" name="Google Shape;115;p15"/>
          <p:cNvSpPr txBox="1"/>
          <p:nvPr>
            <p:ph idx="3" type="body"/>
          </p:nvPr>
        </p:nvSpPr>
        <p:spPr>
          <a:xfrm>
            <a:off x="6167437" y="2780913"/>
            <a:ext cx="5688000" cy="19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6pPr>
            <a:lvl7pPr indent="-3429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7pPr>
            <a:lvl8pPr indent="-3429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8pPr>
            <a:lvl9pPr indent="-3429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9pPr>
          </a:lstStyle>
          <a:p/>
        </p:txBody>
      </p:sp>
      <p:sp>
        <p:nvSpPr>
          <p:cNvPr id="116" name="Google Shape;116;p15"/>
          <p:cNvSpPr txBox="1"/>
          <p:nvPr>
            <p:ph idx="4" type="body"/>
          </p:nvPr>
        </p:nvSpPr>
        <p:spPr>
          <a:xfrm>
            <a:off x="334433" y="5085186"/>
            <a:ext cx="11521280" cy="12965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5pPr>
            <a:lvl6pPr indent="-3429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6pPr>
            <a:lvl7pPr indent="-3429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7pPr>
            <a:lvl8pPr indent="-3429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8pPr>
            <a:lvl9pPr indent="-3429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9pPr>
          </a:lstStyle>
          <a:p/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335360" y="188720"/>
            <a:ext cx="8493745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3885">
          <p15:clr>
            <a:srgbClr val="FBAE40"/>
          </p15:clr>
        </p15:guide>
        <p15:guide id="2" pos="3795">
          <p15:clr>
            <a:srgbClr val="FBAE40"/>
          </p15:clr>
        </p15:guide>
        <p15:guide id="3" pos="211">
          <p15:clr>
            <a:srgbClr val="FBAE40"/>
          </p15:clr>
        </p15:guide>
        <p15:guide id="4" pos="7469">
          <p15:clr>
            <a:srgbClr val="FBAE40"/>
          </p15:clr>
        </p15:guide>
        <p15:guide id="5" orient="horz" pos="799">
          <p15:clr>
            <a:srgbClr val="FBAE40"/>
          </p15:clr>
        </p15:guide>
        <p15:guide id="6" orient="horz" pos="1593">
          <p15:clr>
            <a:srgbClr val="FBAE40"/>
          </p15:clr>
        </p15:guide>
        <p15:guide id="7" orient="horz" pos="1752">
          <p15:clr>
            <a:srgbClr val="FBAE40"/>
          </p15:clr>
        </p15:guide>
        <p15:guide id="8" orient="horz" pos="2999">
          <p15:clr>
            <a:srgbClr val="FBAE40"/>
          </p15:clr>
        </p15:guide>
        <p15:guide id="9" orient="horz" pos="3203">
          <p15:clr>
            <a:srgbClr val="FBAE40"/>
          </p15:clr>
        </p15:guide>
        <p15:guide id="10" orient="horz" pos="402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olumns" type="twoObjAndTx">
  <p:cSld name="TWO_OBJECTS_AND_TEXT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/>
          <p:nvPr/>
        </p:nvSpPr>
        <p:spPr>
          <a:xfrm>
            <a:off x="4547828" y="6489700"/>
            <a:ext cx="3096343" cy="3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Infineon Technologies AG 2025. All rights reserved.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1238188" y="6489700"/>
            <a:ext cx="973251" cy="3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r>
              <a:rPr b="1"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restricted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334963" y="6489700"/>
            <a:ext cx="612000" cy="3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04.08.2025 14:49:53</a:t>
            </a:r>
            <a:endParaRPr/>
          </a:p>
        </p:txBody>
      </p:sp>
      <p:sp>
        <p:nvSpPr>
          <p:cNvPr id="122" name="Google Shape;122;p16"/>
          <p:cNvSpPr txBox="1"/>
          <p:nvPr>
            <p:ph idx="1" type="body"/>
          </p:nvPr>
        </p:nvSpPr>
        <p:spPr>
          <a:xfrm>
            <a:off x="334800" y="1268414"/>
            <a:ext cx="3744384" cy="5113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6pPr>
            <a:lvl7pPr indent="-3429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7pPr>
            <a:lvl8pPr indent="-3429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8pPr>
            <a:lvl9pPr indent="-3429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9pPr>
          </a:lstStyle>
          <a:p/>
        </p:txBody>
      </p:sp>
      <p:sp>
        <p:nvSpPr>
          <p:cNvPr id="123" name="Google Shape;123;p16"/>
          <p:cNvSpPr txBox="1"/>
          <p:nvPr>
            <p:ph idx="2" type="body"/>
          </p:nvPr>
        </p:nvSpPr>
        <p:spPr>
          <a:xfrm>
            <a:off x="4262399" y="1268414"/>
            <a:ext cx="3672000" cy="5113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6pPr>
            <a:lvl7pPr indent="-3429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7pPr>
            <a:lvl8pPr indent="-3429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8pPr>
            <a:lvl9pPr indent="-3429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9pPr>
          </a:lstStyle>
          <a:p/>
        </p:txBody>
      </p:sp>
      <p:sp>
        <p:nvSpPr>
          <p:cNvPr id="124" name="Google Shape;124;p16"/>
          <p:cNvSpPr txBox="1"/>
          <p:nvPr>
            <p:ph idx="3" type="body"/>
          </p:nvPr>
        </p:nvSpPr>
        <p:spPr>
          <a:xfrm>
            <a:off x="8113184" y="1268414"/>
            <a:ext cx="3744416" cy="5113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6pPr>
            <a:lvl7pPr indent="-3429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7pPr>
            <a:lvl8pPr indent="-3429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8pPr>
            <a:lvl9pPr indent="-3429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9pPr>
          </a:lstStyle>
          <a:p/>
        </p:txBody>
      </p:sp>
      <p:sp>
        <p:nvSpPr>
          <p:cNvPr id="125" name="Google Shape;125;p16"/>
          <p:cNvSpPr txBox="1"/>
          <p:nvPr>
            <p:ph type="title"/>
          </p:nvPr>
        </p:nvSpPr>
        <p:spPr>
          <a:xfrm>
            <a:off x="335360" y="188720"/>
            <a:ext cx="8493745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020">
          <p15:clr>
            <a:srgbClr val="FBAE40"/>
          </p15:clr>
        </p15:guide>
        <p15:guide id="2" orient="horz" pos="799">
          <p15:clr>
            <a:srgbClr val="FBAE40"/>
          </p15:clr>
        </p15:guide>
        <p15:guide id="3" pos="4997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5110">
          <p15:clr>
            <a:srgbClr val="FBAE40"/>
          </p15:clr>
        </p15:guide>
        <p15:guide id="7" pos="211">
          <p15:clr>
            <a:srgbClr val="FBAE40"/>
          </p15:clr>
        </p15:guide>
        <p15:guide id="8" pos="7469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w | 3 columns" type="objOverTx">
  <p:cSld name="OBJECT_OVER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17"/>
          <p:cNvSpPr txBox="1"/>
          <p:nvPr/>
        </p:nvSpPr>
        <p:spPr>
          <a:xfrm>
            <a:off x="4547828" y="6489341"/>
            <a:ext cx="3096343" cy="3614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Infineon Technologies AG 2025. All rights reserved.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8" name="Google Shape;128;p17"/>
          <p:cNvSpPr txBox="1"/>
          <p:nvPr/>
        </p:nvSpPr>
        <p:spPr>
          <a:xfrm>
            <a:off x="1238188" y="6489341"/>
            <a:ext cx="973251" cy="3614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r>
              <a:rPr b="1"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restricted</a:t>
            </a:r>
            <a:endParaRPr/>
          </a:p>
        </p:txBody>
      </p:sp>
      <p:sp>
        <p:nvSpPr>
          <p:cNvPr id="129" name="Google Shape;129;p17"/>
          <p:cNvSpPr txBox="1"/>
          <p:nvPr/>
        </p:nvSpPr>
        <p:spPr>
          <a:xfrm>
            <a:off x="334963" y="6489341"/>
            <a:ext cx="612000" cy="3614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04.08.2025 14:49:53</a:t>
            </a:r>
            <a:endParaRPr/>
          </a:p>
        </p:txBody>
      </p:sp>
      <p:sp>
        <p:nvSpPr>
          <p:cNvPr id="130" name="Google Shape;130;p17"/>
          <p:cNvSpPr txBox="1"/>
          <p:nvPr>
            <p:ph idx="1" type="body"/>
          </p:nvPr>
        </p:nvSpPr>
        <p:spPr>
          <a:xfrm>
            <a:off x="334800" y="1268414"/>
            <a:ext cx="11521280" cy="1368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5pPr>
            <a:lvl6pPr indent="-3429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6pPr>
            <a:lvl7pPr indent="-3429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7pPr>
            <a:lvl8pPr indent="-3429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8pPr>
            <a:lvl9pPr indent="-3429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9pPr>
          </a:lstStyle>
          <a:p/>
        </p:txBody>
      </p:sp>
      <p:sp>
        <p:nvSpPr>
          <p:cNvPr id="131" name="Google Shape;131;p17"/>
          <p:cNvSpPr txBox="1"/>
          <p:nvPr>
            <p:ph idx="2" type="body"/>
          </p:nvPr>
        </p:nvSpPr>
        <p:spPr>
          <a:xfrm>
            <a:off x="334800" y="2781300"/>
            <a:ext cx="3744000" cy="3600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6pPr>
            <a:lvl7pPr indent="-3429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7pPr>
            <a:lvl8pPr indent="-3429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8pPr>
            <a:lvl9pPr indent="-3429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9pPr>
          </a:lstStyle>
          <a:p/>
        </p:txBody>
      </p:sp>
      <p:sp>
        <p:nvSpPr>
          <p:cNvPr id="132" name="Google Shape;132;p17"/>
          <p:cNvSpPr txBox="1"/>
          <p:nvPr>
            <p:ph idx="3" type="body"/>
          </p:nvPr>
        </p:nvSpPr>
        <p:spPr>
          <a:xfrm>
            <a:off x="4259262" y="2781300"/>
            <a:ext cx="3673475" cy="3600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6pPr>
            <a:lvl7pPr indent="-3429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7pPr>
            <a:lvl8pPr indent="-3429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8pPr>
            <a:lvl9pPr indent="-3429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9pPr>
          </a:lstStyle>
          <a:p/>
        </p:txBody>
      </p:sp>
      <p:sp>
        <p:nvSpPr>
          <p:cNvPr id="133" name="Google Shape;133;p17"/>
          <p:cNvSpPr txBox="1"/>
          <p:nvPr>
            <p:ph idx="4" type="body"/>
          </p:nvPr>
        </p:nvSpPr>
        <p:spPr>
          <a:xfrm>
            <a:off x="8113186" y="2781300"/>
            <a:ext cx="3744383" cy="3600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6pPr>
            <a:lvl7pPr indent="-3429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7pPr>
            <a:lvl8pPr indent="-3429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8pPr>
            <a:lvl9pPr indent="-3429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9pPr>
          </a:lstStyle>
          <a:p/>
        </p:txBody>
      </p:sp>
      <p:sp>
        <p:nvSpPr>
          <p:cNvPr id="134" name="Google Shape;134;p17"/>
          <p:cNvSpPr txBox="1"/>
          <p:nvPr>
            <p:ph type="title"/>
          </p:nvPr>
        </p:nvSpPr>
        <p:spPr>
          <a:xfrm>
            <a:off x="335360" y="188720"/>
            <a:ext cx="8493745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pos="4997">
          <p15:clr>
            <a:srgbClr val="FBAE40"/>
          </p15:clr>
        </p15:guide>
        <p15:guide id="2" pos="5110">
          <p15:clr>
            <a:srgbClr val="FBAE40"/>
          </p15:clr>
        </p15:guide>
        <p15:guide id="3" pos="7469">
          <p15:clr>
            <a:srgbClr val="FBAE40"/>
          </p15:clr>
        </p15:guide>
        <p15:guide id="4" pos="2683">
          <p15:clr>
            <a:srgbClr val="FBAE40"/>
          </p15:clr>
        </p15:guide>
        <p15:guide id="5" pos="2570">
          <p15:clr>
            <a:srgbClr val="FBAE40"/>
          </p15:clr>
        </p15:guide>
        <p15:guide id="6" pos="211">
          <p15:clr>
            <a:srgbClr val="FBAE40"/>
          </p15:clr>
        </p15:guide>
        <p15:guide id="7" orient="horz" pos="799">
          <p15:clr>
            <a:srgbClr val="FBAE40"/>
          </p15:clr>
        </p15:guide>
        <p15:guide id="8" orient="horz" pos="4020">
          <p15:clr>
            <a:srgbClr val="FBAE40"/>
          </p15:clr>
        </p15:guide>
        <p15:guide id="9" orient="horz" pos="1661">
          <p15:clr>
            <a:srgbClr val="FBAE40"/>
          </p15:clr>
        </p15:guide>
        <p15:guide id="10" orient="horz" pos="1752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s" type="txAndMedia">
  <p:cSld name="TEXT_AND_MEDIA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/>
          <p:cNvSpPr txBox="1"/>
          <p:nvPr/>
        </p:nvSpPr>
        <p:spPr>
          <a:xfrm>
            <a:off x="4547828" y="6489341"/>
            <a:ext cx="3096343" cy="3614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Infineon Technologies AG 2025. All rights reserved.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8"/>
          <p:cNvSpPr txBox="1"/>
          <p:nvPr/>
        </p:nvSpPr>
        <p:spPr>
          <a:xfrm>
            <a:off x="1238188" y="6489341"/>
            <a:ext cx="973251" cy="3614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r>
              <a:rPr b="1"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restricted</a:t>
            </a: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334963" y="6489341"/>
            <a:ext cx="612000" cy="361459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04.08.2025 14:49:53</a:t>
            </a:r>
            <a:endParaRPr/>
          </a:p>
        </p:txBody>
      </p:sp>
      <p:sp>
        <p:nvSpPr>
          <p:cNvPr id="139" name="Google Shape;139;p18"/>
          <p:cNvSpPr txBox="1"/>
          <p:nvPr>
            <p:ph idx="1" type="body"/>
          </p:nvPr>
        </p:nvSpPr>
        <p:spPr>
          <a:xfrm>
            <a:off x="334799" y="1268414"/>
            <a:ext cx="2808000" cy="5113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6pPr>
            <a:lvl7pPr indent="-3429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7pPr>
            <a:lvl8pPr indent="-3429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8pPr>
            <a:lvl9pPr indent="-3429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9pPr>
          </a:lstStyle>
          <a:p/>
        </p:txBody>
      </p:sp>
      <p:sp>
        <p:nvSpPr>
          <p:cNvPr id="140" name="Google Shape;140;p18"/>
          <p:cNvSpPr txBox="1"/>
          <p:nvPr>
            <p:ph idx="2" type="body"/>
          </p:nvPr>
        </p:nvSpPr>
        <p:spPr>
          <a:xfrm>
            <a:off x="3324225" y="1268414"/>
            <a:ext cx="2663825" cy="5113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6pPr>
            <a:lvl7pPr indent="-3429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7pPr>
            <a:lvl8pPr indent="-3429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8pPr>
            <a:lvl9pPr indent="-3429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9pPr>
          </a:lstStyle>
          <a:p/>
        </p:txBody>
      </p:sp>
      <p:sp>
        <p:nvSpPr>
          <p:cNvPr id="141" name="Google Shape;141;p18"/>
          <p:cNvSpPr txBox="1"/>
          <p:nvPr>
            <p:ph idx="3" type="body"/>
          </p:nvPr>
        </p:nvSpPr>
        <p:spPr>
          <a:xfrm>
            <a:off x="6203950" y="1268414"/>
            <a:ext cx="2663825" cy="5113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6pPr>
            <a:lvl7pPr indent="-3429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7pPr>
            <a:lvl8pPr indent="-3429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8pPr>
            <a:lvl9pPr indent="-3429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9pPr>
          </a:lstStyle>
          <a:p/>
        </p:txBody>
      </p:sp>
      <p:sp>
        <p:nvSpPr>
          <p:cNvPr id="142" name="Google Shape;142;p18"/>
          <p:cNvSpPr txBox="1"/>
          <p:nvPr>
            <p:ph idx="4" type="body"/>
          </p:nvPr>
        </p:nvSpPr>
        <p:spPr>
          <a:xfrm>
            <a:off x="9048750" y="1268414"/>
            <a:ext cx="2807593" cy="511333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6pPr>
            <a:lvl7pPr indent="-3429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7pPr>
            <a:lvl8pPr indent="-3429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8pPr>
            <a:lvl9pPr indent="-3429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9pPr>
          </a:lstStyle>
          <a:p/>
        </p:txBody>
      </p:sp>
      <p:sp>
        <p:nvSpPr>
          <p:cNvPr id="143" name="Google Shape;143;p18"/>
          <p:cNvSpPr txBox="1"/>
          <p:nvPr>
            <p:ph type="title"/>
          </p:nvPr>
        </p:nvSpPr>
        <p:spPr>
          <a:xfrm>
            <a:off x="335360" y="188720"/>
            <a:ext cx="8493745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799">
          <p15:clr>
            <a:srgbClr val="FBAE40"/>
          </p15:clr>
        </p15:guide>
        <p15:guide id="2" orient="horz" pos="4020">
          <p15:clr>
            <a:srgbClr val="FBAE40"/>
          </p15:clr>
        </p15:guide>
        <p15:guide id="3" pos="7469">
          <p15:clr>
            <a:srgbClr val="FBAE40"/>
          </p15:clr>
        </p15:guide>
        <p15:guide id="4" pos="211">
          <p15:clr>
            <a:srgbClr val="FBAE40"/>
          </p15:clr>
        </p15:guide>
        <p15:guide id="5" pos="3908">
          <p15:clr>
            <a:srgbClr val="FBAE40"/>
          </p15:clr>
        </p15:guide>
        <p15:guide id="6" pos="3772">
          <p15:clr>
            <a:srgbClr val="FBAE40"/>
          </p15:clr>
        </p15:guide>
        <p15:guide id="7" pos="5586">
          <p15:clr>
            <a:srgbClr val="FBAE40"/>
          </p15:clr>
        </p15:guide>
        <p15:guide id="8" pos="5700">
          <p15:clr>
            <a:srgbClr val="FBAE40"/>
          </p15:clr>
        </p15:guide>
        <p15:guide id="9" pos="1980">
          <p15:clr>
            <a:srgbClr val="FBAE40"/>
          </p15:clr>
        </p15:guide>
        <p15:guide id="10" pos="209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ow | 4 columns" type="twoObjOverTx">
  <p:cSld name="TWO_OBJECTS_OVER_TEXT"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9"/>
          <p:cNvSpPr txBox="1"/>
          <p:nvPr/>
        </p:nvSpPr>
        <p:spPr>
          <a:xfrm>
            <a:off x="4547828" y="6489700"/>
            <a:ext cx="3096343" cy="3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Infineon Technologies AG 2025. All rights reserved.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9"/>
          <p:cNvSpPr txBox="1"/>
          <p:nvPr/>
        </p:nvSpPr>
        <p:spPr>
          <a:xfrm>
            <a:off x="1238188" y="6489700"/>
            <a:ext cx="973251" cy="3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r>
              <a:rPr b="1"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restricted</a:t>
            </a:r>
            <a:endParaRPr/>
          </a:p>
        </p:txBody>
      </p:sp>
      <p:sp>
        <p:nvSpPr>
          <p:cNvPr id="147" name="Google Shape;147;p19"/>
          <p:cNvSpPr txBox="1"/>
          <p:nvPr/>
        </p:nvSpPr>
        <p:spPr>
          <a:xfrm>
            <a:off x="334963" y="6489700"/>
            <a:ext cx="612000" cy="3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04.08.2025 14:49:53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19"/>
          <p:cNvSpPr txBox="1"/>
          <p:nvPr>
            <p:ph idx="1" type="body"/>
          </p:nvPr>
        </p:nvSpPr>
        <p:spPr>
          <a:xfrm>
            <a:off x="334800" y="1268414"/>
            <a:ext cx="11521280" cy="13684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4pPr>
            <a:lvl5pPr indent="-3429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5pPr>
            <a:lvl6pPr indent="-3429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6pPr>
            <a:lvl7pPr indent="-3429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7pPr>
            <a:lvl8pPr indent="-3429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8pPr>
            <a:lvl9pPr indent="-3429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9pPr>
          </a:lstStyle>
          <a:p/>
        </p:txBody>
      </p:sp>
      <p:sp>
        <p:nvSpPr>
          <p:cNvPr id="149" name="Google Shape;149;p19"/>
          <p:cNvSpPr txBox="1"/>
          <p:nvPr>
            <p:ph idx="2" type="body"/>
          </p:nvPr>
        </p:nvSpPr>
        <p:spPr>
          <a:xfrm>
            <a:off x="334800" y="2781300"/>
            <a:ext cx="2808000" cy="3600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6pPr>
            <a:lvl7pPr indent="-3429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7pPr>
            <a:lvl8pPr indent="-3429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8pPr>
            <a:lvl9pPr indent="-3429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9pPr>
          </a:lstStyle>
          <a:p/>
        </p:txBody>
      </p:sp>
      <p:sp>
        <p:nvSpPr>
          <p:cNvPr id="150" name="Google Shape;150;p19"/>
          <p:cNvSpPr txBox="1"/>
          <p:nvPr>
            <p:ph idx="3" type="body"/>
          </p:nvPr>
        </p:nvSpPr>
        <p:spPr>
          <a:xfrm>
            <a:off x="3324225" y="2781300"/>
            <a:ext cx="2663825" cy="3600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6pPr>
            <a:lvl7pPr indent="-3429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7pPr>
            <a:lvl8pPr indent="-3429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8pPr>
            <a:lvl9pPr indent="-3429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9pPr>
          </a:lstStyle>
          <a:p/>
        </p:txBody>
      </p:sp>
      <p:sp>
        <p:nvSpPr>
          <p:cNvPr id="151" name="Google Shape;151;p19"/>
          <p:cNvSpPr txBox="1"/>
          <p:nvPr>
            <p:ph idx="4" type="body"/>
          </p:nvPr>
        </p:nvSpPr>
        <p:spPr>
          <a:xfrm>
            <a:off x="6203950" y="2781300"/>
            <a:ext cx="2663825" cy="3600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6pPr>
            <a:lvl7pPr indent="-3429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7pPr>
            <a:lvl8pPr indent="-3429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8pPr>
            <a:lvl9pPr indent="-3429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9pPr>
          </a:lstStyle>
          <a:p/>
        </p:txBody>
      </p:sp>
      <p:sp>
        <p:nvSpPr>
          <p:cNvPr id="152" name="Google Shape;152;p19"/>
          <p:cNvSpPr txBox="1"/>
          <p:nvPr>
            <p:ph idx="5" type="body"/>
          </p:nvPr>
        </p:nvSpPr>
        <p:spPr>
          <a:xfrm>
            <a:off x="9048750" y="2781300"/>
            <a:ext cx="2807593" cy="36004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6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400"/>
              <a:buChar char="‒"/>
              <a:defRPr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6pPr>
            <a:lvl7pPr indent="-34290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7pPr>
            <a:lvl8pPr indent="-34290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8pPr>
            <a:lvl9pPr indent="-34290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Char char="‒"/>
              <a:defRPr/>
            </a:lvl9pPr>
          </a:lstStyle>
          <a:p/>
        </p:txBody>
      </p:sp>
      <p:sp>
        <p:nvSpPr>
          <p:cNvPr id="153" name="Google Shape;153;p19"/>
          <p:cNvSpPr txBox="1"/>
          <p:nvPr>
            <p:ph type="title"/>
          </p:nvPr>
        </p:nvSpPr>
        <p:spPr>
          <a:xfrm>
            <a:off x="335360" y="188720"/>
            <a:ext cx="8493745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0" spcFirstLastPara="1" rIns="0" wrap="square" tIns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2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799">
          <p15:clr>
            <a:srgbClr val="FBAE40"/>
          </p15:clr>
        </p15:guide>
        <p15:guide id="2" orient="horz" pos="1661">
          <p15:clr>
            <a:srgbClr val="FBAE40"/>
          </p15:clr>
        </p15:guide>
        <p15:guide id="3" orient="horz" pos="1752">
          <p15:clr>
            <a:srgbClr val="FBAE40"/>
          </p15:clr>
        </p15:guide>
        <p15:guide id="4" orient="horz" pos="4020">
          <p15:clr>
            <a:srgbClr val="FBAE40"/>
          </p15:clr>
        </p15:guide>
        <p15:guide id="5" pos="1980">
          <p15:clr>
            <a:srgbClr val="FBAE40"/>
          </p15:clr>
        </p15:guide>
        <p15:guide id="6" pos="211">
          <p15:clr>
            <a:srgbClr val="FBAE40"/>
          </p15:clr>
        </p15:guide>
        <p15:guide id="7" pos="2094">
          <p15:clr>
            <a:srgbClr val="FBAE40"/>
          </p15:clr>
        </p15:guide>
        <p15:guide id="8" pos="3772">
          <p15:clr>
            <a:srgbClr val="FBAE40"/>
          </p15:clr>
        </p15:guide>
        <p15:guide id="9" pos="3908">
          <p15:clr>
            <a:srgbClr val="FBAE40"/>
          </p15:clr>
        </p15:guide>
        <p15:guide id="10" pos="5586">
          <p15:clr>
            <a:srgbClr val="FBAE40"/>
          </p15:clr>
        </p15:guide>
        <p15:guide id="11" pos="5700">
          <p15:clr>
            <a:srgbClr val="FBAE40"/>
          </p15:clr>
        </p15:guide>
        <p15:guide id="12" pos="7469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pty" type="blank">
  <p:cSld name="BLANK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/>
        </p:nvSpPr>
        <p:spPr>
          <a:xfrm>
            <a:off x="4547828" y="6489700"/>
            <a:ext cx="3096343" cy="3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Copyright © Infineon Technologies AG 2025. All rights reserved.</a:t>
            </a:r>
            <a:endParaRPr sz="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20"/>
          <p:cNvSpPr txBox="1"/>
          <p:nvPr/>
        </p:nvSpPr>
        <p:spPr>
          <a:xfrm>
            <a:off x="1238188" y="6489700"/>
            <a:ext cx="973251" cy="3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r>
              <a:rPr b="1"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restricted</a:t>
            </a:r>
            <a:endParaRPr/>
          </a:p>
        </p:txBody>
      </p:sp>
      <p:sp>
        <p:nvSpPr>
          <p:cNvPr id="157" name="Google Shape;157;p20"/>
          <p:cNvSpPr txBox="1"/>
          <p:nvPr/>
        </p:nvSpPr>
        <p:spPr>
          <a:xfrm>
            <a:off x="334963" y="6489700"/>
            <a:ext cx="612000" cy="361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r>
              <a:rPr lang="en-US" sz="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04.08.2025 14:49:53</a:t>
            </a:r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7469">
          <p15:clr>
            <a:srgbClr val="FBAE40"/>
          </p15:clr>
        </p15:guide>
        <p15:guide id="2" pos="211">
          <p15:clr>
            <a:srgbClr val="FBAE40"/>
          </p15:clr>
        </p15:guide>
        <p15:guide id="3" orient="horz" pos="4020">
          <p15:clr>
            <a:srgbClr val="FBAE40"/>
          </p15:clr>
        </p15:guide>
        <p15:guide id="4" orient="horz" pos="799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ullpic" type="picTx">
  <p:cSld name="PICTURE_WITH_CAPTION_TEXT">
    <p:bg>
      <p:bgPr>
        <a:solidFill>
          <a:schemeClr val="accent2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1"/>
          <p:cNvSpPr/>
          <p:nvPr>
            <p:ph idx="2" type="pic"/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DCD5D7"/>
          </a:solidFill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nal" type="objOnly">
  <p:cSld name="OBJECT_ONLY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72000" lIns="72000" spcFirstLastPara="1" rIns="72000" wrap="square" tIns="720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2" name="Google Shape;162;p2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4566446" y="2755984"/>
            <a:ext cx="3077814" cy="134603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8.xml"/><Relationship Id="rId22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7.xml"/><Relationship Id="rId21" Type="http://schemas.openxmlformats.org/officeDocument/2006/relationships/slideLayout" Target="../slideLayouts/slideLayout18.xml"/><Relationship Id="rId13" Type="http://schemas.openxmlformats.org/officeDocument/2006/relationships/slideLayout" Target="../slideLayouts/slideLayout10.xml"/><Relationship Id="rId24" Type="http://schemas.openxmlformats.org/officeDocument/2006/relationships/theme" Target="../theme/theme1.xml"/><Relationship Id="rId12" Type="http://schemas.openxmlformats.org/officeDocument/2006/relationships/slideLayout" Target="../slideLayouts/slideLayout9.xml"/><Relationship Id="rId23" Type="http://schemas.openxmlformats.org/officeDocument/2006/relationships/slideLayout" Target="../slideLayouts/slideLayout20.xml"/><Relationship Id="rId1" Type="http://schemas.openxmlformats.org/officeDocument/2006/relationships/image" Target="../media/image2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slideLayout" Target="../slideLayouts/slideLayout1.xml"/><Relationship Id="rId9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1.xml"/><Relationship Id="rId17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6.xml"/><Relationship Id="rId6" Type="http://schemas.openxmlformats.org/officeDocument/2006/relationships/slideLayout" Target="../slideLayouts/slideLayout3.xml"/><Relationship Id="rId18" Type="http://schemas.openxmlformats.org/officeDocument/2006/relationships/slideLayout" Target="../slideLayouts/slideLayout15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35360" y="188720"/>
            <a:ext cx="8493745" cy="720000"/>
          </a:xfrm>
          <a:prstGeom prst="rect">
            <a:avLst/>
          </a:prstGeom>
          <a:noFill/>
          <a:ln>
            <a:noFill/>
          </a:ln>
        </p:spPr>
        <p:txBody>
          <a:bodyPr anchorCtr="0" anchor="b" bIns="10800" lIns="0" spcFirstLastPara="1" rIns="0" wrap="square" tIns="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466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466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466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466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466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466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466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1" i="0" sz="3466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34434" y="1268414"/>
            <a:ext cx="11521017" cy="51133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342900" lvl="0" marL="457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‒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30200" lvl="1" marL="914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Font typeface="Arial"/>
              <a:buChar char="‒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‒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"/>
          <p:cNvSpPr txBox="1"/>
          <p:nvPr/>
        </p:nvSpPr>
        <p:spPr>
          <a:xfrm>
            <a:off x="11471403" y="6489341"/>
            <a:ext cx="384048" cy="3614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800"/>
              <a:buFont typeface="Arial"/>
              <a:buNone/>
            </a:pPr>
            <a:fld id="{00000000-1234-1234-1234-123412341234}" type="slidenum">
              <a:rPr b="1" i="0" lang="en-US" sz="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1" i="0" sz="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" name="Google Shape;13;p2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10659042" y="193689"/>
            <a:ext cx="1207447" cy="52805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black background with white text&#10;&#10;Description automatically generated" id="14" name="Google Shape;14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9159298" y="419440"/>
            <a:ext cx="1246130" cy="2685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duation cap" id="15" name="Google Shape;15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93" y="76763"/>
            <a:ext cx="473942" cy="473942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  <p:sldLayoutId id="2147483661" r:id="rId16"/>
    <p:sldLayoutId id="2147483662" r:id="rId17"/>
    <p:sldLayoutId id="2147483663" r:id="rId18"/>
    <p:sldLayoutId id="2147483664" r:id="rId19"/>
    <p:sldLayoutId id="2147483665" r:id="rId20"/>
    <p:sldLayoutId id="2147483666" r:id="rId21"/>
    <p:sldLayoutId id="2147483667" r:id="rId22"/>
    <p:sldLayoutId id="2147483668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Relationship Id="rId4" Type="http://schemas.openxmlformats.org/officeDocument/2006/relationships/image" Target="../media/image1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comments" Target="../comments/comment1.xml"/><Relationship Id="rId4" Type="http://schemas.openxmlformats.org/officeDocument/2006/relationships/image" Target="../media/image1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linkedin.com/in/sandrobelfanti" TargetMode="External"/><Relationship Id="rId4" Type="http://schemas.openxmlformats.org/officeDocument/2006/relationships/hyperlink" Target="http://www.chipmind.ai" TargetMode="External"/><Relationship Id="rId5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"/>
          <p:cNvSpPr txBox="1"/>
          <p:nvPr>
            <p:ph idx="1" type="subTitle"/>
          </p:nvPr>
        </p:nvSpPr>
        <p:spPr>
          <a:xfrm>
            <a:off x="624000" y="5641951"/>
            <a:ext cx="8280000" cy="61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Sandro Belfanti, Summer School 2025, Villach</a:t>
            </a:r>
            <a:endParaRPr/>
          </a:p>
        </p:txBody>
      </p:sp>
      <p:sp>
        <p:nvSpPr>
          <p:cNvPr id="168" name="Google Shape;168;p1"/>
          <p:cNvSpPr txBox="1"/>
          <p:nvPr>
            <p:ph type="ctrTitle"/>
          </p:nvPr>
        </p:nvSpPr>
        <p:spPr>
          <a:xfrm>
            <a:off x="624000" y="4163051"/>
            <a:ext cx="8280000" cy="1118901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ct val="100000"/>
              <a:buFont typeface="Arial"/>
              <a:buNone/>
            </a:pPr>
            <a:r>
              <a:rPr lang="en-US"/>
              <a:t>The Chip Design “Agent” Engineer of the Future - Between Ambition and Reality</a:t>
            </a:r>
            <a:endParaRPr/>
          </a:p>
        </p:txBody>
      </p:sp>
      <p:sp>
        <p:nvSpPr>
          <p:cNvPr id="169" name="Google Shape;169;p1"/>
          <p:cNvSpPr txBox="1"/>
          <p:nvPr>
            <p:ph idx="10" type="dt"/>
          </p:nvPr>
        </p:nvSpPr>
        <p:spPr>
          <a:xfrm>
            <a:off x="12192000" y="6858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 </a:t>
            </a:r>
            <a:endParaRPr b="1"/>
          </a:p>
        </p:txBody>
      </p:sp>
      <p:sp>
        <p:nvSpPr>
          <p:cNvPr id="170" name="Google Shape;170;p1"/>
          <p:cNvSpPr txBox="1"/>
          <p:nvPr>
            <p:ph idx="11" type="ftr"/>
          </p:nvPr>
        </p:nvSpPr>
        <p:spPr>
          <a:xfrm>
            <a:off x="12192000" y="6858000"/>
            <a:ext cx="0" cy="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7a4df47488_0_12"/>
          <p:cNvSpPr txBox="1"/>
          <p:nvPr>
            <p:ph idx="1" type="body"/>
          </p:nvPr>
        </p:nvSpPr>
        <p:spPr>
          <a:xfrm>
            <a:off x="336000" y="2230248"/>
            <a:ext cx="11520000" cy="4151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Who I am &amp; Why I care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AI Agents for RTL: Where are we now?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Where are we headed? </a:t>
            </a:r>
            <a:endParaRPr sz="2600"/>
          </a:p>
          <a:p>
            <a:pPr indent="-393700" lvl="0" marL="457200" rtl="0" algn="l">
              <a:spcBef>
                <a:spcPts val="0"/>
              </a:spcBef>
              <a:spcAft>
                <a:spcPts val="0"/>
              </a:spcAft>
              <a:buSzPts val="2600"/>
              <a:buChar char="●"/>
            </a:pPr>
            <a:r>
              <a:rPr lang="en-US" sz="2600"/>
              <a:t>The engineer of the future</a:t>
            </a:r>
            <a:endParaRPr sz="26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-US" sz="2400"/>
              <a:t>Skills and ways of working</a:t>
            </a:r>
            <a:endParaRPr sz="2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/>
          </a:p>
        </p:txBody>
      </p:sp>
      <p:sp>
        <p:nvSpPr>
          <p:cNvPr id="177" name="Google Shape;177;g37a4df47488_0_12"/>
          <p:cNvSpPr txBox="1"/>
          <p:nvPr>
            <p:ph type="title"/>
          </p:nvPr>
        </p:nvSpPr>
        <p:spPr>
          <a:xfrm>
            <a:off x="335360" y="188720"/>
            <a:ext cx="8493600" cy="720000"/>
          </a:xfrm>
          <a:prstGeom prst="rect">
            <a:avLst/>
          </a:prstGeom>
        </p:spPr>
        <p:txBody>
          <a:bodyPr anchorCtr="0" anchor="b" bIns="1080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Outline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7a4df47488_0_0"/>
          <p:cNvSpPr txBox="1"/>
          <p:nvPr>
            <p:ph idx="1" type="body"/>
          </p:nvPr>
        </p:nvSpPr>
        <p:spPr>
          <a:xfrm>
            <a:off x="334800" y="1268425"/>
            <a:ext cx="6168900" cy="511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Background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Studied &amp; PhD in Zurich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Digital design, signal processing, and AI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Semiconductor Industry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OnSemi, then Infineon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/>
              <a:t>Digital design for wireless communication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/>
              <a:t>10+ years of experience, 20+ tape-outs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Chipmind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Founded in 2025, CTO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Mission: Let AI do the Chips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Building autonomous AI agents for digital chip design.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g37a4df47488_0_0"/>
          <p:cNvSpPr txBox="1"/>
          <p:nvPr>
            <p:ph type="title"/>
          </p:nvPr>
        </p:nvSpPr>
        <p:spPr>
          <a:xfrm>
            <a:off x="335360" y="188720"/>
            <a:ext cx="8493600" cy="720000"/>
          </a:xfrm>
          <a:prstGeom prst="rect">
            <a:avLst/>
          </a:prstGeom>
        </p:spPr>
        <p:txBody>
          <a:bodyPr anchorCtr="0" anchor="b" bIns="1080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Who I am &amp; Why I Care</a:t>
            </a:r>
            <a:endParaRPr/>
          </a:p>
        </p:txBody>
      </p:sp>
      <p:pic>
        <p:nvPicPr>
          <p:cNvPr id="185" name="Google Shape;185;g37a4df47488_0_0" title="chipmind_logo-v60x36mm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03495" y="3317820"/>
            <a:ext cx="4158250" cy="2439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7a4df47488_0_6"/>
          <p:cNvSpPr/>
          <p:nvPr/>
        </p:nvSpPr>
        <p:spPr>
          <a:xfrm>
            <a:off x="211875" y="1460808"/>
            <a:ext cx="7671900" cy="847500"/>
          </a:xfrm>
          <a:prstGeom prst="roundRect">
            <a:avLst>
              <a:gd fmla="val 16667" name="adj"/>
            </a:avLst>
          </a:prstGeom>
          <a:solidFill>
            <a:srgbClr val="DCD5D7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7a4df47488_0_6"/>
          <p:cNvSpPr txBox="1"/>
          <p:nvPr>
            <p:ph idx="1" type="body"/>
          </p:nvPr>
        </p:nvSpPr>
        <p:spPr>
          <a:xfrm>
            <a:off x="334800" y="1268425"/>
            <a:ext cx="11520000" cy="511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We need a way to measure AI’s ability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Solution: benchmarks (collections of curated design &amp; verification tasks)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NVIDIA CVDP (Comprehensive Verilog Design Problems)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783 tasks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13 categories (RTL generation, verification, debugging, spec alignment…)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Authored by experienced hardware engineers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Evaluates both one-shot prompts and multi-step agent workflows - mini designs with a few files.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Datasets on huggingface, github repo for runners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i="1" lang="en-US"/>
              <a:t>Comprehensive Verilog Design Problems: A Next-Generation Benchmark Dataset for Evaluating Large Language Models and Agents on RTL Design and Verification Nathaniel Pinckney et al. June 2025</a:t>
            </a:r>
            <a:endParaRPr i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g37a4df47488_0_6"/>
          <p:cNvSpPr txBox="1"/>
          <p:nvPr>
            <p:ph type="title"/>
          </p:nvPr>
        </p:nvSpPr>
        <p:spPr>
          <a:xfrm>
            <a:off x="335360" y="188720"/>
            <a:ext cx="8493600" cy="720000"/>
          </a:xfrm>
          <a:prstGeom prst="rect">
            <a:avLst/>
          </a:prstGeom>
        </p:spPr>
        <p:txBody>
          <a:bodyPr anchorCtr="0" anchor="b" bIns="1080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How Do We Know Where We Are?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48f3ea250e_0_4"/>
          <p:cNvSpPr txBox="1"/>
          <p:nvPr>
            <p:ph idx="1" type="body"/>
          </p:nvPr>
        </p:nvSpPr>
        <p:spPr>
          <a:xfrm>
            <a:off x="334800" y="1268414"/>
            <a:ext cx="11520000" cy="511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What works 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Debugging / Bug fixing (cid16)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Spec-to-RTL (cid03) and RTL modification (cid04)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And what doesn’t</a:t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Verification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/>
              <a:t>cid12 testbench stimulus generation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/>
              <a:t>cid13 testbench checker generation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/>
              <a:t>cid14 assertion generation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g348f3ea250e_0_4"/>
          <p:cNvSpPr txBox="1"/>
          <p:nvPr>
            <p:ph type="title"/>
          </p:nvPr>
        </p:nvSpPr>
        <p:spPr>
          <a:xfrm>
            <a:off x="335360" y="188720"/>
            <a:ext cx="8493600" cy="720000"/>
          </a:xfrm>
          <a:prstGeom prst="rect">
            <a:avLst/>
          </a:prstGeom>
        </p:spPr>
        <p:txBody>
          <a:bodyPr anchorCtr="0" anchor="b" bIns="1080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CVDP Results</a:t>
            </a:r>
            <a:endParaRPr/>
          </a:p>
        </p:txBody>
      </p:sp>
      <p:pic>
        <p:nvPicPr>
          <p:cNvPr id="201" name="Google Shape;201;g348f3ea250e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4021" y="1368125"/>
            <a:ext cx="5372100" cy="1504950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g348f3ea250e_0_4"/>
          <p:cNvSpPr txBox="1"/>
          <p:nvPr/>
        </p:nvSpPr>
        <p:spPr>
          <a:xfrm>
            <a:off x="6254010" y="2783850"/>
            <a:ext cx="5051400" cy="4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Agentic Results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203" name="Google Shape;203;g348f3ea250e_0_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94021" y="3292550"/>
            <a:ext cx="5372100" cy="133744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g348f3ea250e_0_4"/>
          <p:cNvSpPr txBox="1"/>
          <p:nvPr/>
        </p:nvSpPr>
        <p:spPr>
          <a:xfrm>
            <a:off x="335350" y="6144325"/>
            <a:ext cx="6423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</a:rPr>
              <a:t>All results from https://arxiv.org/pdf/2506.14074v1</a:t>
            </a:r>
            <a:endParaRPr sz="1200">
              <a:solidFill>
                <a:schemeClr val="dk1"/>
              </a:solidFill>
            </a:endParaRPr>
          </a:p>
        </p:txBody>
      </p:sp>
      <p:sp>
        <p:nvSpPr>
          <p:cNvPr id="205" name="Google Shape;205;g348f3ea250e_0_4"/>
          <p:cNvSpPr txBox="1"/>
          <p:nvPr/>
        </p:nvSpPr>
        <p:spPr>
          <a:xfrm>
            <a:off x="6294896" y="4620146"/>
            <a:ext cx="5051400" cy="4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</a:rPr>
              <a:t>Non-agentic</a:t>
            </a:r>
            <a:r>
              <a:rPr lang="en-US" sz="1800">
                <a:solidFill>
                  <a:schemeClr val="dk1"/>
                </a:solidFill>
              </a:rPr>
              <a:t> Results</a:t>
            </a: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g348f3ea250e_0_19"/>
          <p:cNvSpPr txBox="1"/>
          <p:nvPr>
            <p:ph type="title"/>
          </p:nvPr>
        </p:nvSpPr>
        <p:spPr>
          <a:xfrm>
            <a:off x="335360" y="188720"/>
            <a:ext cx="8493600" cy="720000"/>
          </a:xfrm>
          <a:prstGeom prst="rect">
            <a:avLst/>
          </a:prstGeom>
        </p:spPr>
        <p:txBody>
          <a:bodyPr anchorCtr="0" anchor="b" bIns="1080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Closer Look - We can Solve Easy Bugfix Tasks</a:t>
            </a:r>
            <a:endParaRPr/>
          </a:p>
        </p:txBody>
      </p:sp>
      <p:pic>
        <p:nvPicPr>
          <p:cNvPr id="212" name="Google Shape;212;g348f3ea250e_0_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9650" y="1591007"/>
            <a:ext cx="10172700" cy="387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48f3ea250e_0_26"/>
          <p:cNvSpPr txBox="1"/>
          <p:nvPr>
            <p:ph type="title"/>
          </p:nvPr>
        </p:nvSpPr>
        <p:spPr>
          <a:xfrm>
            <a:off x="335360" y="188720"/>
            <a:ext cx="8493600" cy="720000"/>
          </a:xfrm>
          <a:prstGeom prst="rect">
            <a:avLst/>
          </a:prstGeom>
        </p:spPr>
        <p:txBody>
          <a:bodyPr anchorCtr="0" anchor="b" bIns="1080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Closer Look - What does spec to RTL look like?</a:t>
            </a:r>
            <a:endParaRPr/>
          </a:p>
        </p:txBody>
      </p:sp>
      <p:pic>
        <p:nvPicPr>
          <p:cNvPr id="219" name="Google Shape;219;g348f3ea250e_0_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0125" y="1696720"/>
            <a:ext cx="10191750" cy="4019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48f3ea250e_0_33"/>
          <p:cNvSpPr txBox="1"/>
          <p:nvPr>
            <p:ph type="title"/>
          </p:nvPr>
        </p:nvSpPr>
        <p:spPr>
          <a:xfrm>
            <a:off x="335360" y="188720"/>
            <a:ext cx="8493600" cy="720000"/>
          </a:xfrm>
          <a:prstGeom prst="rect">
            <a:avLst/>
          </a:prstGeom>
        </p:spPr>
        <p:txBody>
          <a:bodyPr anchorCtr="0" anchor="b" bIns="1080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 Closer Look - Verification is Challenging</a:t>
            </a:r>
            <a:endParaRPr/>
          </a:p>
        </p:txBody>
      </p:sp>
      <p:pic>
        <p:nvPicPr>
          <p:cNvPr id="226" name="Google Shape;226;g348f3ea250e_0_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33350" y="1452557"/>
            <a:ext cx="10001250" cy="3952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7cf25185ae_0_0"/>
          <p:cNvSpPr txBox="1"/>
          <p:nvPr>
            <p:ph type="title"/>
          </p:nvPr>
        </p:nvSpPr>
        <p:spPr>
          <a:xfrm>
            <a:off x="335360" y="188720"/>
            <a:ext cx="8493600" cy="720000"/>
          </a:xfrm>
          <a:prstGeom prst="rect">
            <a:avLst/>
          </a:prstGeom>
        </p:spPr>
        <p:txBody>
          <a:bodyPr anchorCtr="0" anchor="b" bIns="1080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What is next - Autonomy Levels</a:t>
            </a:r>
            <a:endParaRPr/>
          </a:p>
        </p:txBody>
      </p:sp>
      <p:sp>
        <p:nvSpPr>
          <p:cNvPr id="233" name="Google Shape;233;g37cf25185ae_0_0"/>
          <p:cNvSpPr txBox="1"/>
          <p:nvPr>
            <p:ph idx="1" type="body"/>
          </p:nvPr>
        </p:nvSpPr>
        <p:spPr>
          <a:xfrm>
            <a:off x="334800" y="1268414"/>
            <a:ext cx="11520000" cy="511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Self driving cars? It’s not that simple.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Learning from autonomous driving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Autonomy Levels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34" name="Google Shape;234;g37cf25185ae_0_0"/>
          <p:cNvGraphicFramePr/>
          <p:nvPr/>
        </p:nvGraphicFramePr>
        <p:xfrm>
          <a:off x="640250" y="26762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{4221B52A-62A4-4EF7-9051-B35C5E1EC334}</a:tableStyleId>
              </a:tblPr>
              <a:tblGrid>
                <a:gridCol w="3429000"/>
                <a:gridCol w="3429000"/>
                <a:gridCol w="34290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Level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DCD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Name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DCD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Description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DCD5D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0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No Automation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Driver does everything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Driver Assistance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Single function (cruise control, lane keeping, parking assistant)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Partial Automation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Combined functions, but human must monitor (Tesla Autopilot)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Conditional Automation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Car drives itself under certain conditions, </a:t>
                      </a:r>
                      <a:r>
                        <a:rPr lang="en-US"/>
                        <a:t>human</a:t>
                      </a:r>
                      <a:r>
                        <a:rPr lang="en-US"/>
                        <a:t> fallback required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High Automation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Fully autonomous in defined scenarios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Full Automation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Car drives everywhere, under all conditions, without human intervention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48f3ea250e_0_78"/>
          <p:cNvSpPr txBox="1"/>
          <p:nvPr>
            <p:ph type="title"/>
          </p:nvPr>
        </p:nvSpPr>
        <p:spPr>
          <a:xfrm>
            <a:off x="335360" y="188720"/>
            <a:ext cx="8493600" cy="720000"/>
          </a:xfrm>
          <a:prstGeom prst="rect">
            <a:avLst/>
          </a:prstGeom>
        </p:spPr>
        <p:txBody>
          <a:bodyPr anchorCtr="0" anchor="b" bIns="1080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Autonomy Levels for Digital Design</a:t>
            </a:r>
            <a:endParaRPr/>
          </a:p>
        </p:txBody>
      </p:sp>
      <p:sp>
        <p:nvSpPr>
          <p:cNvPr id="241" name="Google Shape;241;g348f3ea250e_0_78"/>
          <p:cNvSpPr txBox="1"/>
          <p:nvPr>
            <p:ph idx="1" type="body"/>
          </p:nvPr>
        </p:nvSpPr>
        <p:spPr>
          <a:xfrm>
            <a:off x="334800" y="1268414"/>
            <a:ext cx="11520000" cy="511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What could autonomy levels look like for digital design?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42" name="Google Shape;242;g348f3ea250e_0_78"/>
          <p:cNvGraphicFramePr/>
          <p:nvPr/>
        </p:nvGraphicFramePr>
        <p:xfrm>
          <a:off x="584500" y="21187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{4221B52A-62A4-4EF7-9051-B35C5E1EC334}</a:tableStyleId>
              </a:tblPr>
              <a:tblGrid>
                <a:gridCol w="2403075"/>
                <a:gridCol w="3540525"/>
                <a:gridCol w="434340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Level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DCD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Function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DCD5D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/>
                        <a:t>Description</a:t>
                      </a:r>
                      <a:endParaRPr b="1"/>
                    </a:p>
                  </a:txBody>
                  <a:tcPr marT="91425" marB="91425" marR="91425" marL="91425">
                    <a:solidFill>
                      <a:srgbClr val="DCD5D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1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HDL Co-Pilot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2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Task Agent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AI autonomously completes a specific design or verification task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3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Design Agent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AI can create, modify, and integrate design elements based on provided requirements, making localized design decisions while still operating within a human-defined architecture.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4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Decision-Making Design Agent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AI can make architectural decisions, generate entiere modules, interpret high-level goals without explicit human step-by-step direction.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5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Agent Engineers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/>
                        <a:t>Fully autonomous AI capable of inventing architectures and optimizing the design process itself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g348f3ea250e_0_53"/>
          <p:cNvSpPr txBox="1"/>
          <p:nvPr>
            <p:ph idx="1" type="body"/>
          </p:nvPr>
        </p:nvSpPr>
        <p:spPr>
          <a:xfrm>
            <a:off x="334800" y="1268425"/>
            <a:ext cx="5330100" cy="511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Imagine: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We have AI agents that can work somewhat independently. 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Agents handle most design &amp; verification tasks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What remains for us?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/>
              <a:t>Will our skills need to change?</a:t>
            </a:r>
            <a:endParaRPr/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SzPts val="1600"/>
              <a:buChar char="○"/>
            </a:pPr>
            <a:r>
              <a:rPr lang="en-US"/>
              <a:t>Will our focus have to shift?</a:t>
            </a:r>
            <a:endParaRPr/>
          </a:p>
        </p:txBody>
      </p:sp>
      <p:sp>
        <p:nvSpPr>
          <p:cNvPr id="249" name="Google Shape;249;g348f3ea250e_0_53"/>
          <p:cNvSpPr txBox="1"/>
          <p:nvPr>
            <p:ph type="title"/>
          </p:nvPr>
        </p:nvSpPr>
        <p:spPr>
          <a:xfrm>
            <a:off x="335360" y="188720"/>
            <a:ext cx="8493600" cy="720000"/>
          </a:xfrm>
          <a:prstGeom prst="rect">
            <a:avLst/>
          </a:prstGeom>
        </p:spPr>
        <p:txBody>
          <a:bodyPr anchorCtr="0" anchor="b" bIns="1080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The Agent Engineer of the Future</a:t>
            </a:r>
            <a:endParaRPr/>
          </a:p>
        </p:txBody>
      </p:sp>
      <p:pic>
        <p:nvPicPr>
          <p:cNvPr id="250" name="Google Shape;250;g348f3ea250e_0_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62546" y="2064986"/>
            <a:ext cx="5581200" cy="3720800"/>
          </a:xfrm>
          <a:prstGeom prst="rect">
            <a:avLst/>
          </a:prstGeom>
          <a:noFill/>
          <a:ln cap="flat" cmpd="sng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</p:pic>
      <p:sp>
        <p:nvSpPr>
          <p:cNvPr id="251" name="Google Shape;251;g348f3ea250e_0_53"/>
          <p:cNvSpPr txBox="1"/>
          <p:nvPr/>
        </p:nvSpPr>
        <p:spPr>
          <a:xfrm>
            <a:off x="6178684" y="2047309"/>
            <a:ext cx="1627500" cy="1627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9600" lIns="49600" spcFirstLastPara="1" rIns="49600" wrap="square" tIns="496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59"/>
          </a:p>
        </p:txBody>
      </p:sp>
      <p:sp>
        <p:nvSpPr>
          <p:cNvPr id="252" name="Google Shape;252;g348f3ea250e_0_53"/>
          <p:cNvSpPr txBox="1"/>
          <p:nvPr/>
        </p:nvSpPr>
        <p:spPr>
          <a:xfrm>
            <a:off x="6144310" y="5464104"/>
            <a:ext cx="55086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(Image generated by ChatGPT)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348f3ea250e_0_85"/>
          <p:cNvSpPr txBox="1"/>
          <p:nvPr>
            <p:ph idx="1" type="body"/>
          </p:nvPr>
        </p:nvSpPr>
        <p:spPr>
          <a:xfrm>
            <a:off x="334800" y="1862249"/>
            <a:ext cx="5688000" cy="451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L</a:t>
            </a:r>
            <a:r>
              <a:rPr b="1" lang="en-US"/>
              <a:t>eft Shift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Same skills, but needed earlier, different focus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Communication, decomposition = today’s lead skills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With agents, juniors need them from day one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g348f3ea250e_0_85"/>
          <p:cNvSpPr txBox="1"/>
          <p:nvPr>
            <p:ph type="title"/>
          </p:nvPr>
        </p:nvSpPr>
        <p:spPr>
          <a:xfrm>
            <a:off x="335360" y="188720"/>
            <a:ext cx="8493600" cy="720000"/>
          </a:xfrm>
          <a:prstGeom prst="rect">
            <a:avLst/>
          </a:prstGeom>
        </p:spPr>
        <p:txBody>
          <a:bodyPr anchorCtr="0" anchor="b" bIns="1080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Core Skills - Left Shift or Completely New Way of Working?</a:t>
            </a:r>
            <a:endParaRPr/>
          </a:p>
        </p:txBody>
      </p:sp>
      <p:sp>
        <p:nvSpPr>
          <p:cNvPr id="260" name="Google Shape;260;g348f3ea250e_0_85"/>
          <p:cNvSpPr txBox="1"/>
          <p:nvPr>
            <p:ph idx="2" type="body"/>
          </p:nvPr>
        </p:nvSpPr>
        <p:spPr>
          <a:xfrm>
            <a:off x="6167450" y="1862124"/>
            <a:ext cx="5689200" cy="4519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New Way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New practices emerge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Prompting, context engineering, guiding agent workflows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Daily human–agent collaboration = a new discipline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48f3ea250e_0_59"/>
          <p:cNvSpPr txBox="1"/>
          <p:nvPr>
            <p:ph idx="1" type="body"/>
          </p:nvPr>
        </p:nvSpPr>
        <p:spPr>
          <a:xfrm>
            <a:off x="334800" y="1268414"/>
            <a:ext cx="5688000" cy="511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Interfacing with LLMs is not that different from interfacing with colleagues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Writing clear, unambiguous specifications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Providing enough context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Structuring and splitting problem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Documenting assumptions, interfaces, and constraints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Explaining design intent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g348f3ea250e_0_59"/>
          <p:cNvSpPr txBox="1"/>
          <p:nvPr>
            <p:ph type="title"/>
          </p:nvPr>
        </p:nvSpPr>
        <p:spPr>
          <a:xfrm>
            <a:off x="335360" y="188720"/>
            <a:ext cx="8493600" cy="720000"/>
          </a:xfrm>
          <a:prstGeom prst="rect">
            <a:avLst/>
          </a:prstGeom>
        </p:spPr>
        <p:txBody>
          <a:bodyPr anchorCtr="0" anchor="b" bIns="1080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Core Skill - Communication</a:t>
            </a:r>
            <a:endParaRPr/>
          </a:p>
        </p:txBody>
      </p:sp>
      <p:sp>
        <p:nvSpPr>
          <p:cNvPr id="268" name="Google Shape;268;g348f3ea250e_0_59"/>
          <p:cNvSpPr txBox="1"/>
          <p:nvPr>
            <p:ph idx="2" type="body"/>
          </p:nvPr>
        </p:nvSpPr>
        <p:spPr>
          <a:xfrm>
            <a:off x="6167439" y="1268414"/>
            <a:ext cx="5689200" cy="511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But there are new aspects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Prompting: framing tasks for LLMs in precise, testable ways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Context engineering: selecting relevant files, signals, specs to feed into an agent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Iterative refinement: guiding an agent through multiple improvement loops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48f3ea250e_0_65"/>
          <p:cNvSpPr txBox="1"/>
          <p:nvPr>
            <p:ph idx="1" type="body"/>
          </p:nvPr>
        </p:nvSpPr>
        <p:spPr>
          <a:xfrm>
            <a:off x="334800" y="1268414"/>
            <a:ext cx="5688000" cy="511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00"/>
                </a:solidFill>
              </a:rPr>
              <a:t>Familiar Skills, Needed Earlier</a:t>
            </a:r>
            <a:endParaRPr b="1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US">
                <a:solidFill>
                  <a:srgbClr val="000000"/>
                </a:solidFill>
              </a:rPr>
              <a:t>Reviewing design options and trade-offs 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US">
                <a:solidFill>
                  <a:srgbClr val="000000"/>
                </a:solidFill>
              </a:rPr>
              <a:t>Spotting inconsistencies or missing corner cases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US">
                <a:solidFill>
                  <a:srgbClr val="000000"/>
                </a:solidFill>
              </a:rPr>
              <a:t>Balancing short-term fixes vs. long-term maintainability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US">
                <a:solidFill>
                  <a:srgbClr val="000000"/>
                </a:solidFill>
              </a:rPr>
              <a:t>Knowing when to escalate or dig deeper</a:t>
            </a:r>
            <a:endParaRPr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US">
                <a:solidFill>
                  <a:srgbClr val="000000"/>
                </a:solidFill>
              </a:rPr>
              <a:t>Applying engineering intuition to ambiguous requirements</a:t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g348f3ea250e_0_65"/>
          <p:cNvSpPr txBox="1"/>
          <p:nvPr>
            <p:ph type="title"/>
          </p:nvPr>
        </p:nvSpPr>
        <p:spPr>
          <a:xfrm>
            <a:off x="335360" y="188720"/>
            <a:ext cx="8493600" cy="720000"/>
          </a:xfrm>
          <a:prstGeom prst="rect">
            <a:avLst/>
          </a:prstGeom>
        </p:spPr>
        <p:txBody>
          <a:bodyPr anchorCtr="0" anchor="b" bIns="1080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Core Skill - Judgement and Critical Thinking</a:t>
            </a:r>
            <a:endParaRPr/>
          </a:p>
        </p:txBody>
      </p:sp>
      <p:sp>
        <p:nvSpPr>
          <p:cNvPr id="276" name="Google Shape;276;g348f3ea250e_0_65"/>
          <p:cNvSpPr txBox="1"/>
          <p:nvPr>
            <p:ph idx="2" type="body"/>
          </p:nvPr>
        </p:nvSpPr>
        <p:spPr>
          <a:xfrm>
            <a:off x="6167439" y="1268414"/>
            <a:ext cx="5689200" cy="511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/>
              <a:t>AI-Specific Critical Thinking - Know your tools and their limitations</a:t>
            </a:r>
            <a:endParaRPr b="1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Know your tools (the agents) and their limitations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Know when NOT to use AI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Distinguishing between plausible-sounding vs. correct AI output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Differentiate prompting issues from agent limitations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/>
              <a:t>Deciding when to trust automation and when to intervene manually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48f47ca9ffe90030_0"/>
          <p:cNvSpPr txBox="1"/>
          <p:nvPr>
            <p:ph idx="1" type="body"/>
          </p:nvPr>
        </p:nvSpPr>
        <p:spPr>
          <a:xfrm>
            <a:off x="334800" y="1973773"/>
            <a:ext cx="3744300" cy="44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00"/>
                </a:solidFill>
              </a:rPr>
              <a:t>Where we are today</a:t>
            </a:r>
            <a:endParaRPr b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US">
                <a:solidFill>
                  <a:srgbClr val="000000"/>
                </a:solidFill>
              </a:rPr>
              <a:t>Ambition: </a:t>
            </a:r>
            <a:r>
              <a:rPr i="1" lang="en-US">
                <a:solidFill>
                  <a:srgbClr val="000000"/>
                </a:solidFill>
              </a:rPr>
              <a:t>“One prompt, one chip”</a:t>
            </a:r>
            <a:endParaRPr i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US">
                <a:solidFill>
                  <a:srgbClr val="000000"/>
                </a:solidFill>
              </a:rPr>
              <a:t>Benchmarks show strengths in bugfix &amp; spec-to-RTL and hugh promise. </a:t>
            </a:r>
            <a:endParaRPr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3" name="Google Shape;283;g48f47ca9ffe90030_0"/>
          <p:cNvSpPr txBox="1"/>
          <p:nvPr>
            <p:ph type="title"/>
          </p:nvPr>
        </p:nvSpPr>
        <p:spPr>
          <a:xfrm>
            <a:off x="335360" y="188720"/>
            <a:ext cx="8493600" cy="720000"/>
          </a:xfrm>
          <a:prstGeom prst="rect">
            <a:avLst/>
          </a:prstGeom>
        </p:spPr>
        <p:txBody>
          <a:bodyPr anchorCtr="0" anchor="b" bIns="1080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Between Ambition and Reality - Summary</a:t>
            </a:r>
            <a:endParaRPr/>
          </a:p>
        </p:txBody>
      </p:sp>
      <p:sp>
        <p:nvSpPr>
          <p:cNvPr id="284" name="Google Shape;284;g48f47ca9ffe90030_0"/>
          <p:cNvSpPr txBox="1"/>
          <p:nvPr>
            <p:ph idx="2" type="body"/>
          </p:nvPr>
        </p:nvSpPr>
        <p:spPr>
          <a:xfrm>
            <a:off x="4262400" y="1973723"/>
            <a:ext cx="3672000" cy="44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00"/>
                </a:solidFill>
              </a:rPr>
              <a:t>Frameworks for progress</a:t>
            </a:r>
            <a:endParaRPr b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lang="en-US">
                <a:solidFill>
                  <a:srgbClr val="000000"/>
                </a:solidFill>
              </a:rPr>
              <a:t>Autonomy levels (driving analogy → chip design levels)</a:t>
            </a:r>
            <a:br>
              <a:rPr lang="en-US">
                <a:solidFill>
                  <a:srgbClr val="000000"/>
                </a:solidFill>
              </a:rPr>
            </a:br>
            <a:endParaRPr/>
          </a:p>
        </p:txBody>
      </p:sp>
      <p:sp>
        <p:nvSpPr>
          <p:cNvPr id="285" name="Google Shape;285;g48f47ca9ffe90030_0"/>
          <p:cNvSpPr txBox="1"/>
          <p:nvPr>
            <p:ph idx="3" type="body"/>
          </p:nvPr>
        </p:nvSpPr>
        <p:spPr>
          <a:xfrm>
            <a:off x="8113175" y="1973724"/>
            <a:ext cx="3744300" cy="4407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-US">
                <a:solidFill>
                  <a:srgbClr val="000000"/>
                </a:solidFill>
              </a:rPr>
              <a:t>The Agent Engineer of the Future</a:t>
            </a:r>
            <a:endParaRPr b="1">
              <a:solidFill>
                <a:srgbClr val="000000"/>
              </a:solidFill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Char char="●"/>
            </a:pPr>
            <a:r>
              <a:rPr b="1" lang="en-US">
                <a:solidFill>
                  <a:srgbClr val="000000"/>
                </a:solidFill>
              </a:rPr>
              <a:t>Working with new tools requires new skills, but </a:t>
            </a:r>
            <a:endParaRPr b="1">
              <a:solidFill>
                <a:srgbClr val="000000"/>
              </a:solidFill>
            </a:endParaRPr>
          </a:p>
          <a:p>
            <a:pPr indent="-3429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○"/>
            </a:pPr>
            <a:r>
              <a:rPr i="1" lang="en-US" sz="1800">
                <a:solidFill>
                  <a:srgbClr val="000000"/>
                </a:solidFill>
              </a:rPr>
              <a:t>Are these just senior skills earlier (left shift)… or entirely new skills (new approach)?</a:t>
            </a:r>
            <a:br>
              <a:rPr i="1" lang="en-US" sz="1800">
                <a:solidFill>
                  <a:srgbClr val="000000"/>
                </a:solidFill>
              </a:rPr>
            </a:br>
            <a:endParaRPr sz="18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7cf25185ae_0_18"/>
          <p:cNvSpPr txBox="1"/>
          <p:nvPr>
            <p:ph idx="1" type="body"/>
          </p:nvPr>
        </p:nvSpPr>
        <p:spPr>
          <a:xfrm>
            <a:off x="1076525" y="5144500"/>
            <a:ext cx="9847500" cy="4269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u="sng">
                <a:solidFill>
                  <a:schemeClr val="hlink"/>
                </a:solidFill>
                <a:hlinkClick r:id="rId3"/>
              </a:rPr>
              <a:t>linkedin.com/in/sandrobelfanti</a:t>
            </a:r>
            <a:r>
              <a:rPr lang="en-US"/>
              <a:t>                                                                                         </a:t>
            </a:r>
            <a:r>
              <a:rPr lang="en-US" u="sng">
                <a:solidFill>
                  <a:schemeClr val="hlink"/>
                </a:solidFill>
                <a:hlinkClick r:id="rId4"/>
              </a:rPr>
              <a:t>chipmind.ai</a:t>
            </a:r>
            <a:r>
              <a:rPr lang="en-US"/>
              <a:t> </a:t>
            </a:r>
            <a:endParaRPr/>
          </a:p>
        </p:txBody>
      </p:sp>
      <p:sp>
        <p:nvSpPr>
          <p:cNvPr id="292" name="Google Shape;292;g37cf25185ae_0_18"/>
          <p:cNvSpPr txBox="1"/>
          <p:nvPr>
            <p:ph type="title"/>
          </p:nvPr>
        </p:nvSpPr>
        <p:spPr>
          <a:xfrm>
            <a:off x="335360" y="188720"/>
            <a:ext cx="8493600" cy="720000"/>
          </a:xfrm>
          <a:prstGeom prst="rect">
            <a:avLst/>
          </a:prstGeom>
        </p:spPr>
        <p:txBody>
          <a:bodyPr anchorCtr="0" anchor="b" bIns="1080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Questions and Answers</a:t>
            </a:r>
            <a:endParaRPr/>
          </a:p>
        </p:txBody>
      </p:sp>
      <p:pic>
        <p:nvPicPr>
          <p:cNvPr id="293" name="Google Shape;293;g37cf25185ae_0_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259750" y="1403175"/>
            <a:ext cx="3481050" cy="348105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g37cf25185ae_0_18"/>
          <p:cNvSpPr txBox="1"/>
          <p:nvPr/>
        </p:nvSpPr>
        <p:spPr>
          <a:xfrm>
            <a:off x="211860" y="6055004"/>
            <a:ext cx="5508600" cy="4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>
                <a:solidFill>
                  <a:schemeClr val="dk1"/>
                </a:solidFill>
              </a:rPr>
              <a:t>(Image generated by ChatGPT)</a:t>
            </a:r>
            <a:endParaRPr sz="10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nfineon 16:9">
  <a:themeElements>
    <a:clrScheme name="Infineon 2023 - 2">
      <a:dk1>
        <a:srgbClr val="1D1D1D"/>
      </a:dk1>
      <a:lt1>
        <a:srgbClr val="FFFFFF"/>
      </a:lt1>
      <a:dk2>
        <a:srgbClr val="0A8276"/>
      </a:dk2>
      <a:lt2>
        <a:srgbClr val="8D8786"/>
      </a:lt2>
      <a:accent1>
        <a:srgbClr val="0A8276"/>
      </a:accent1>
      <a:accent2>
        <a:srgbClr val="575352"/>
      </a:accent2>
      <a:accent3>
        <a:srgbClr val="F97414"/>
      </a:accent3>
      <a:accent4>
        <a:srgbClr val="9BBA43"/>
      </a:accent4>
      <a:accent5>
        <a:srgbClr val="FCD442"/>
      </a:accent5>
      <a:accent6>
        <a:srgbClr val="9C216E"/>
      </a:accent6>
      <a:hlink>
        <a:srgbClr val="0A8276"/>
      </a:hlink>
      <a:folHlink>
        <a:srgbClr val="0A827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2024-07-30T13:02:23Z</dcterms:created>
  <dc:creator>Maritschnig Daniela (IFAT HR TC)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empower.integration.Classification.DocumentId">
    <vt:lpwstr/>
  </property>
  <property fmtid="{D5CDD505-2E9C-101B-9397-08002B2CF9AE}" pid="3" name="empower.integration.Classification.DocumentVersion">
    <vt:lpwstr/>
  </property>
  <property fmtid="{D5CDD505-2E9C-101B-9397-08002B2CF9AE}" pid="4" name="empower.integration.Classification.DocumentOwner">
    <vt:lpwstr/>
  </property>
  <property fmtid="{D5CDD505-2E9C-101B-9397-08002B2CF9AE}" pid="5" name="empower.integration.Classification.ShowFooter">
    <vt:bool>true</vt:bool>
  </property>
  <property fmtid="{D5CDD505-2E9C-101B-9397-08002B2CF9AE}" pid="6" name="empower.integration.Classification.RestrictionLevel">
    <vt:i4>1</vt:i4>
  </property>
  <property fmtid="{D5CDD505-2E9C-101B-9397-08002B2CF9AE}" pid="7" name="empower.integration.Classification.FooterDate">
    <vt:filetime>2025-08-04T12:49:53Z</vt:filetime>
  </property>
  <property fmtid="{D5CDD505-2E9C-101B-9397-08002B2CF9AE}" pid="8" name="empower.integration.Classification.DateFormat">
    <vt:lpwstr/>
  </property>
  <property fmtid="{D5CDD505-2E9C-101B-9397-08002B2CF9AE}" pid="9" name="empower.integration.Classification.IsDraft">
    <vt:bool>false</vt:bool>
  </property>
  <property fmtid="{D5CDD505-2E9C-101B-9397-08002B2CF9AE}" pid="10" name="empower.integration.Classification.IsProprietary">
    <vt:bool>false</vt:bool>
  </property>
  <property fmtid="{D5CDD505-2E9C-101B-9397-08002B2CF9AE}" pid="11" name="empower.integration.Classification.HasAdditionalMarking">
    <vt:bool>false</vt:bool>
  </property>
  <property fmtid="{D5CDD505-2E9C-101B-9397-08002B2CF9AE}" pid="12" name="empower.integration.Classification.AdditionalMarking">
    <vt:lpwstr/>
  </property>
  <property fmtid="{D5CDD505-2E9C-101B-9397-08002B2CF9AE}" pid="13" name="empower.integration.Classification.IsEmpowerClassified">
    <vt:bool>false</vt:bool>
  </property>
  <property fmtid="{D5CDD505-2E9C-101B-9397-08002B2CF9AE}" pid="14" name="MSIP_Label_a15a25aa-e944-415d-b7a7-40f6b9180b6b_Enabled">
    <vt:lpwstr>-1</vt:lpwstr>
  </property>
  <property fmtid="{D5CDD505-2E9C-101B-9397-08002B2CF9AE}" pid="15" name="MSIP_Label_a15a25aa-e944-415d-b7a7-40f6b9180b6b_SetDate">
    <vt:lpwstr>2025-08-04 12:49:53Z</vt:lpwstr>
  </property>
  <property fmtid="{D5CDD505-2E9C-101B-9397-08002B2CF9AE}" pid="16" name="MSIP_Label_a15a25aa-e944-415d-b7a7-40f6b9180b6b_Method">
    <vt:lpwstr>Privileged</vt:lpwstr>
  </property>
  <property fmtid="{D5CDD505-2E9C-101B-9397-08002B2CF9AE}" pid="17" name="MSIP_Label_a15a25aa-e944-415d-b7a7-40f6b9180b6b_Name">
    <vt:lpwstr>a15a25aa-e944-415d-b7a7-40f6b9180b6b</vt:lpwstr>
  </property>
  <property fmtid="{D5CDD505-2E9C-101B-9397-08002B2CF9AE}" pid="18" name="MSIP_Label_a15a25aa-e944-415d-b7a7-40f6b9180b6b_SiteId">
    <vt:lpwstr>eeb8d0e8-3544-41d3-aac6-934c309faf5a</vt:lpwstr>
  </property>
  <property fmtid="{D5CDD505-2E9C-101B-9397-08002B2CF9AE}" pid="19" name="MSIP_Label_a15a25aa-e944-415d-b7a7-40f6b9180b6b_ActionId">
    <vt:lpwstr>d89c652d-a0cc-4acd-b5b7-799c7f1eba8d</vt:lpwstr>
  </property>
  <property fmtid="{D5CDD505-2E9C-101B-9397-08002B2CF9AE}" pid="20" name="MSIP_Label_a15a25aa-e944-415d-b7a7-40f6b9180b6b_ContentBits">
    <vt:lpwstr>0</vt:lpwstr>
  </property>
</Properties>
</file>